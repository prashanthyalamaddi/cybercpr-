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e2b5fe84bf54ea2" /><Relationship Type="http://schemas.openxmlformats.org/officeDocument/2006/relationships/extended-properties" Target="/docProps/app.xml" Id="R317a8d1a5336492f" /><Relationship Type="http://schemas.openxmlformats.org/officeDocument/2006/relationships/officeDocument" Target="/ppt/presentation.xml" Id="R5e74a3a96ebd4313" /></Relationships>
</file>

<file path=ppt/presentation.xml><?xml version="1.0" encoding="utf-8"?>
<p:presentation xmlns:p="http://schemas.openxmlformats.org/presentationml/2006/main">
  <p:sldMasterIdLst>
    <p:sldMasterId xmlns:r="http://schemas.openxmlformats.org/officeDocument/2006/relationships" id="2147483648" r:id="R23623bb7b6b54f2e"/>
  </p:sldMasterIdLst>
  <p:notesMasterIdLst>
    <p:notesMasterId xmlns:r="http://schemas.openxmlformats.org/officeDocument/2006/relationships" r:id="Re85778d154a14fd5"/>
  </p:notesMasterIdLst>
  <p:sldIdLst>
    <p:sldId xmlns:r="http://schemas.openxmlformats.org/officeDocument/2006/relationships" id="256" r:id="R6396dacabaee43ca"/>
    <p:sldId xmlns:r="http://schemas.openxmlformats.org/officeDocument/2006/relationships" id="257" r:id="Rcc3c56527fef4bf7"/>
    <p:sldId xmlns:r="http://schemas.openxmlformats.org/officeDocument/2006/relationships" id="258" r:id="Rc8e09131a8ec4a42"/>
    <p:sldId xmlns:r="http://schemas.openxmlformats.org/officeDocument/2006/relationships" id="259" r:id="R6b52321f83d340d0"/>
    <p:sldId xmlns:r="http://schemas.openxmlformats.org/officeDocument/2006/relationships" id="260" r:id="R3bacba3de2be42d9"/>
    <p:sldId xmlns:r="http://schemas.openxmlformats.org/officeDocument/2006/relationships" id="261" r:id="R492629a641b74ec0"/>
    <p:sldId xmlns:r="http://schemas.openxmlformats.org/officeDocument/2006/relationships" id="262" r:id="R3a809898f1d0427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c622b10ffe84f96" /><Relationship Type="http://schemas.openxmlformats.org/officeDocument/2006/relationships/slideMaster" Target="/ppt/slideMasters/slideMaster1.xml" Id="R23623bb7b6b54f2e" /><Relationship Type="http://schemas.openxmlformats.org/officeDocument/2006/relationships/notesMaster" Target="/ppt/notesMasters/notesMaster1.xml" Id="Re85778d154a14fd5" /><Relationship Type="http://schemas.openxmlformats.org/officeDocument/2006/relationships/presProps" Target="/ppt/presProps.xml" Id="R257f45be34284a51" /><Relationship Type="http://schemas.openxmlformats.org/officeDocument/2006/relationships/tableStyles" Target="/ppt/tableStyles.xml" Id="R923aba4cdadc4f0a" /><Relationship Type="http://schemas.openxmlformats.org/officeDocument/2006/relationships/slide" Target="/ppt/slides/slide1.xml" Id="R6396dacabaee43ca" /><Relationship Type="http://schemas.openxmlformats.org/officeDocument/2006/relationships/slide" Target="/ppt/slides/slide2.xml" Id="Rcc3c56527fef4bf7" /><Relationship Type="http://schemas.openxmlformats.org/officeDocument/2006/relationships/slide" Target="/ppt/slides/slide3.xml" Id="Rc8e09131a8ec4a42" /><Relationship Type="http://schemas.openxmlformats.org/officeDocument/2006/relationships/slide" Target="/ppt/slides/slide4.xml" Id="R6b52321f83d340d0" /><Relationship Type="http://schemas.openxmlformats.org/officeDocument/2006/relationships/slide" Target="/ppt/slides/slide5.xml" Id="R3bacba3de2be42d9" /><Relationship Type="http://schemas.openxmlformats.org/officeDocument/2006/relationships/slide" Target="/ppt/slides/slide6.xml" Id="R492629a641b74ec0" /><Relationship Type="http://schemas.openxmlformats.org/officeDocument/2006/relationships/slide" Target="/ppt/slides/slide7.xml" Id="R3a809898f1d0427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9f9c1593362403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c9009e796a34a60" /><Relationship Type="http://schemas.openxmlformats.org/officeDocument/2006/relationships/notesMaster" Target="/ppt/notesMasters/notesMaster1.xml" Id="Ra9e4af746e7a43a7" /></Relationships>
</file>

<file path=ppt/notesSlides/_rels/notesSlide2.xml.rels>&#65279;<?xml version="1.0" encoding="utf-8"?><Relationships xmlns="http://schemas.openxmlformats.org/package/2006/relationships"><Relationship Type="http://schemas.openxmlformats.org/officeDocument/2006/relationships/slide" Target="/ppt/slides/slide2.xml" Id="R274056d424964bc9" /><Relationship Type="http://schemas.openxmlformats.org/officeDocument/2006/relationships/notesMaster" Target="/ppt/notesMasters/notesMaster1.xml" Id="Re92d162fd37e4cfe" /></Relationships>
</file>

<file path=ppt/notesSlides/_rels/notesSlide3.xml.rels>&#65279;<?xml version="1.0" encoding="utf-8"?><Relationships xmlns="http://schemas.openxmlformats.org/package/2006/relationships"><Relationship Type="http://schemas.openxmlformats.org/officeDocument/2006/relationships/slide" Target="/ppt/slides/slide3.xml" Id="Rb6d286707fd54d2d" /><Relationship Type="http://schemas.openxmlformats.org/officeDocument/2006/relationships/notesMaster" Target="/ppt/notesMasters/notesMaster1.xml" Id="R7127c5b31a624fd1" /></Relationships>
</file>

<file path=ppt/notesSlides/_rels/notesSlide4.xml.rels>&#65279;<?xml version="1.0" encoding="utf-8"?><Relationships xmlns="http://schemas.openxmlformats.org/package/2006/relationships"><Relationship Type="http://schemas.openxmlformats.org/officeDocument/2006/relationships/slide" Target="/ppt/slides/slide4.xml" Id="Rcced5541d6eb4f77" /><Relationship Type="http://schemas.openxmlformats.org/officeDocument/2006/relationships/notesMaster" Target="/ppt/notesMasters/notesMaster1.xml" Id="Rb7147fc1626c4151" /></Relationships>
</file>

<file path=ppt/notesSlides/_rels/notesSlide5.xml.rels>&#65279;<?xml version="1.0" encoding="utf-8"?><Relationships xmlns="http://schemas.openxmlformats.org/package/2006/relationships"><Relationship Type="http://schemas.openxmlformats.org/officeDocument/2006/relationships/slide" Target="/ppt/slides/slide5.xml" Id="R40b5a6c282ce4d72" /><Relationship Type="http://schemas.openxmlformats.org/officeDocument/2006/relationships/notesMaster" Target="/ppt/notesMasters/notesMaster1.xml" Id="R5fd1998304e644de" /></Relationships>
</file>

<file path=ppt/notesSlides/_rels/notesSlide6.xml.rels>&#65279;<?xml version="1.0" encoding="utf-8"?><Relationships xmlns="http://schemas.openxmlformats.org/package/2006/relationships"><Relationship Type="http://schemas.openxmlformats.org/officeDocument/2006/relationships/slide" Target="/ppt/slides/slide6.xml" Id="R02a9543db75d43cf" /><Relationship Type="http://schemas.openxmlformats.org/officeDocument/2006/relationships/notesMaster" Target="/ppt/notesMasters/notesMaster1.xml" Id="R3384c2adef0a46b0" /></Relationships>
</file>

<file path=ppt/notesSlides/_rels/notesSlide7.xml.rels>&#65279;<?xml version="1.0" encoding="utf-8"?><Relationships xmlns="http://schemas.openxmlformats.org/package/2006/relationships"><Relationship Type="http://schemas.openxmlformats.org/officeDocument/2006/relationships/slide" Target="/ppt/slides/slide7.xml" Id="R23ba852885064b99" /><Relationship Type="http://schemas.openxmlformats.org/officeDocument/2006/relationships/notesMaster" Target="/ppt/notesMasters/notesMaster1.xml" Id="Re02cfd99bcae4fe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introduction. Problem 92 for the MERN hackathon. The domain is cybersecurity incident-response planning. Introduce the supplied team roster. All four members are in Section AIML - F, Branch CSM - AIML. One-line idea: the planner makes a fictional response order and route trade-offs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challenge requires a response order plus a model of system dependencies. This deck presents the operational tensions as design context, not as measured incident statistics. NIST SP 800-61 Rev. 3, published in April 2025, frames incident response as part of broader cybersecurity risk management: https://csrc.nist.gov/pubs/sp/800/61/r3/final . CISA's federal playbook discusses evidence, service availability, and resource trade-offs in its federal context: https://www.cisa.gov/sites/default/files/2024-08/Federal_Government_Cybersecurity_Incident_and_Vulnerability_Response_Playbooks_508C.pdf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innovation is an inspectable tabletop workflow. The weighted score, graph semantics, route objective, and fictional cost inputs remain visible. The app avoids suggesting that possible reachability is confirmed compromise or that a proposed route automatically isolates a host.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flow: incident severity, spread, confidence, asset criticality, links, and positive sample costs enter the browser. The app scores incidents and creates an undirected adjacency list. The heap ranks incidents, BFS traces reachability and fewest hops, and Dijkstra calculates lowest entered effort. The output is a planning view, not an 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app uses React 19 and Vite with in-memory browser state. It is not a full MERN stack yet. Ranking all I incidents with a binary heap is O(I log I) time and O(I) space. BFS is O(V+E) time and space. Dijkstra with a binary heap is O((V+E) log V) time and O(V+E) space for this simple graph. These are algorithmic bounds, not benchmark measurements.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&amp; impact. This is a screenshot from the running local planner. It ranks four fictional incidents; the selected identity alert scores 92. The route results are sample edge estimates: two hops totaling 18 minutes, or three hops totaling 15. The app has no benchmarked throughput, monitoring feed, persistence, or containment integration. The practical value is a visible structure for a tabletop discussion.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Future vision. Current: an offline-friendly local browser prototype with fictional data. Next: validate the model with practitioners, then decide whether an API and database are needed by the event rubric. Before handling real incidents, define access, retention, audit, and privacy controls. Do not imply current operational readiness. Close with: an explainable planning aid, with response authority remaining with people.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5917c520a3243c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d87333e964d4778" /><Relationship Type="http://schemas.openxmlformats.org/officeDocument/2006/relationships/slideLayout" Target="/ppt/slideLayouts/slideLayout1.xml" Id="R3133fe431316415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133fe431316415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79782cb37ca43cb" /><Relationship Type="http://schemas.openxmlformats.org/officeDocument/2006/relationships/image" Target="/ppt/media/image.png" Id="R8cfa1643db024627" /><Relationship Type="http://schemas.openxmlformats.org/officeDocument/2006/relationships/notesSlide" Target="/ppt/notesSlides/notesSlide1.xml" Id="R2ad10e20ef73484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4f5779e630b40ce" /><Relationship Type="http://schemas.openxmlformats.org/officeDocument/2006/relationships/notesSlide" Target="/ppt/notesSlides/notesSlide2.xml" Id="R7e7948bdf8ce4a3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ec8d7873e864ac6" /><Relationship Type="http://schemas.openxmlformats.org/officeDocument/2006/relationships/notesSlide" Target="/ppt/notesSlides/notesSlide3.xml" Id="R867b54c9e41b402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0a3c4967a71492f" /><Relationship Type="http://schemas.openxmlformats.org/officeDocument/2006/relationships/notesSlide" Target="/ppt/notesSlides/notesSlide4.xml" Id="R31fb08556154423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c92bc9fc6f64fd3" /><Relationship Type="http://schemas.openxmlformats.org/officeDocument/2006/relationships/notesSlide" Target="/ppt/notesSlides/notesSlide5.xml" Id="R2db12cdcbec143d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93508a7eb3347f6" /><Relationship Type="http://schemas.openxmlformats.org/officeDocument/2006/relationships/image" Target="/ppt/media/image.jpeg" Id="Rf37b98326b3e4cd3" /><Relationship Type="http://schemas.openxmlformats.org/officeDocument/2006/relationships/notesSlide" Target="/ppt/notesSlides/notesSlide6.xml" Id="Rab0977f4e5194b0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5fcbcc5c03d4aa1" /><Relationship Type="http://schemas.openxmlformats.org/officeDocument/2006/relationships/image" Target="/ppt/media/image2.png" Id="Rfd3344b7c9144377" /><Relationship Type="http://schemas.openxmlformats.org/officeDocument/2006/relationships/notesSlide" Target="/ppt/notesSlides/notesSlide7.xml" Id="R23451734ccf043fe" /></Relationships>
</file>

<file path=ppt/slides/slide1.xml><?xml version="1.0" encoding="utf-8"?>
<p:sld xmlns:p="http://schemas.openxmlformats.org/presentationml/2006/main">
  <p:cSld>
    <p:bg>
      <p:bgPr>
        <a:solidFill xmlns:a="http://schemas.openxmlformats.org/drawingml/2006/main">
          <a:srgbClr val="F7EEF1"/>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A8E66EE3-BF62-4D69-81F1-67103FA60E20}"/>
              </a:ext>
            </a:extLst>
          </p:cNvPr>
          <p:cNvSpPr>
            <a:spLocks xmlns:a="http://schemas.openxmlformats.org/drawingml/2006/main" noGrp="1"/>
          </p:cNvSpPr>
          <p:nvPr/>
        </p:nvSpPr>
        <p:spPr>
          <a:xfrm xmlns:a="http://schemas.openxmlformats.org/drawingml/2006/main">
            <a:off x="685800" y="400050"/>
            <a:ext cx="647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9487"/>
          </a:bodyPr>
          <a:lstStyle xmlns:a="http://schemas.openxmlformats.org/drawingml/2006/main"/>
          <a:p xmlns:a="http://schemas.openxmlformats.org/drawingml/2006/main">
            <a:pPr>
              <a:defRPr sz="975" b="1">
                <a:solidFill>
                  <a:srgbClr val="8F354F"/>
                </a:solidFill>
                <a:latin typeface="Arial"/>
                <a:ea typeface="Arial"/>
                <a:cs typeface="Arial"/>
              </a:defRPr>
            </a:pPr>
            <a:r>
              <a:rPr sz="975" b="1">
                <a:solidFill>
                  <a:srgbClr val="8F354F"/>
                </a:solidFill>
                <a:latin typeface="Arial"/>
                <a:ea typeface="Arial"/>
                <a:cs typeface="Arial"/>
              </a:rPr>
              <a:t>MERN HACKATHON    PROBLEM 92</a:t>
            </a:r>
          </a:p>
        </p:txBody>
      </p:sp>
      <p:sp>
        <p:nvSpPr>
          <p:cNvPr id="2" name="">
            <a:extLst xmlns:a="http://schemas.openxmlformats.org/drawingml/2006/main">
              <a:ext uri="{FF2B5EF4-FFF2-40B4-BE49-F238E27FC236}">
                <a16:creationId xmlns:a16="http://schemas.microsoft.com/office/drawing/2014/main" id="{2C2F9766-1208-4925-9ED2-F159564D2797}"/>
              </a:ext>
            </a:extLst>
          </p:cNvPr>
          <p:cNvSpPr>
            <a:spLocks xmlns:a="http://schemas.openxmlformats.org/drawingml/2006/main" noGrp="1"/>
          </p:cNvSpPr>
          <p:nvPr/>
        </p:nvSpPr>
        <p:spPr>
          <a:xfrm xmlns:a="http://schemas.openxmlformats.org/drawingml/2006/main">
            <a:off x="8239125" y="247650"/>
            <a:ext cx="3333750" cy="1790700"/>
          </a:xfrm>
          <a:prstGeom xmlns:a="http://schemas.openxmlformats.org/drawingml/2006/main" prst="roundRect">
            <a:avLst>
              <a:gd name="adj" fmla="val 4255"/>
            </a:avLst>
          </a:prstGeom>
          <a:solidFill xmlns:a="http://schemas.openxmlformats.org/drawingml/2006/main">
            <a:srgbClr val="FFFDFC"/>
          </a:solidFill>
          <a:ln xmlns:a="http://schemas.openxmlformats.org/drawingml/2006/main" w="9525">
            <a:solidFill>
              <a:srgbClr val="E4CCD3"/>
            </a:solidFill>
          </a:ln>
        </p:spPr>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8cfa1643db024627"/>
          <a:stretch xmlns:a="http://schemas.openxmlformats.org/drawingml/2006/main"/>
        </p:blipFill>
        <p:spPr>
          <a:xfrm xmlns:a="http://schemas.openxmlformats.org/drawingml/2006/main">
            <a:off x="8334375" y="361466"/>
            <a:ext cx="3143250" cy="1563068"/>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933A8F5-6DB0-4E97-BDDF-517EADD71F5F}"/>
              </a:ext>
            </a:extLst>
          </p:cNvPr>
          <p:cNvSpPr>
            <a:spLocks xmlns:a="http://schemas.openxmlformats.org/drawingml/2006/main" noGrp="1"/>
          </p:cNvSpPr>
          <p:nvPr/>
        </p:nvSpPr>
        <p:spPr>
          <a:xfrm xmlns:a="http://schemas.openxmlformats.org/drawingml/2006/main">
            <a:off x="685800" y="1219200"/>
            <a:ext cx="723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225" b="1">
                <a:solidFill>
                  <a:srgbClr val="35131F"/>
                </a:solidFill>
                <a:latin typeface="Arial"/>
                <a:ea typeface="Arial"/>
                <a:cs typeface="Arial"/>
              </a:defRPr>
            </a:pPr>
            <a:r>
              <a:rPr sz="3225" b="1">
                <a:solidFill>
                  <a:srgbClr val="35131F"/>
                </a:solidFill>
                <a:latin typeface="Arial"/>
                <a:ea typeface="Arial"/>
                <a:cs typeface="Arial"/>
              </a:rPr>
              <a:t>Cyber Incident Response Planner</a:t>
            </a:r>
          </a:p>
        </p:txBody>
      </p:sp>
      <p:sp>
        <p:nvSpPr>
          <p:cNvPr id="5" name="">
            <a:extLst xmlns:a="http://schemas.openxmlformats.org/drawingml/2006/main">
              <a:ext uri="{FF2B5EF4-FFF2-40B4-BE49-F238E27FC236}">
                <a16:creationId xmlns:a16="http://schemas.microsoft.com/office/drawing/2014/main" id="{062627AE-3941-4C85-9A9A-FD99AB8E0545}"/>
              </a:ext>
            </a:extLst>
          </p:cNvPr>
          <p:cNvSpPr>
            <a:spLocks xmlns:a="http://schemas.openxmlformats.org/drawingml/2006/main" noGrp="1"/>
          </p:cNvSpPr>
          <p:nvPr/>
        </p:nvSpPr>
        <p:spPr>
          <a:xfrm xmlns:a="http://schemas.openxmlformats.org/drawingml/2006/main">
            <a:off x="685800" y="1952625"/>
            <a:ext cx="7239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1667"/>
          </a:bodyPr>
          <a:lstStyle xmlns:a="http://schemas.openxmlformats.org/drawingml/2006/main"/>
          <a:p xmlns:a="http://schemas.openxmlformats.org/drawingml/2006/main">
            <a:pPr>
              <a:defRPr sz="1650" b="0">
                <a:solidFill>
                  <a:srgbClr val="826A73"/>
                </a:solidFill>
                <a:latin typeface="Arial"/>
                <a:ea typeface="Arial"/>
                <a:cs typeface="Arial"/>
              </a:defRPr>
            </a:pPr>
            <a:r>
              <a:rPr sz="1650" b="0">
                <a:solidFill>
                  <a:srgbClr val="826A73"/>
                </a:solidFill>
                <a:latin typeface="Arial"/>
                <a:ea typeface="Arial"/>
                <a:cs typeface="Arial"/>
              </a:rPr>
              <a:t>A tabletop planner that ranks fictional alerts and compares routes across linked systems.</a:t>
            </a:r>
          </a:p>
        </p:txBody>
      </p:sp>
      <p:sp>
        <p:nvSpPr>
          <p:cNvPr id="6" name="">
            <a:extLst xmlns:a="http://schemas.openxmlformats.org/drawingml/2006/main">
              <a:ext uri="{FF2B5EF4-FFF2-40B4-BE49-F238E27FC236}">
                <a16:creationId xmlns:a16="http://schemas.microsoft.com/office/drawing/2014/main" id="{9753E923-8D15-4A8D-BD67-FF029697D0E4}"/>
              </a:ext>
            </a:extLst>
          </p:cNvPr>
          <p:cNvSpPr>
            <a:spLocks xmlns:a="http://schemas.openxmlformats.org/drawingml/2006/main" noGrp="1"/>
          </p:cNvSpPr>
          <p:nvPr/>
        </p:nvSpPr>
        <p:spPr>
          <a:xfrm xmlns:a="http://schemas.openxmlformats.org/drawingml/2006/main">
            <a:off x="685800" y="2781300"/>
            <a:ext cx="10820400" cy="9525"/>
          </a:xfrm>
          <a:prstGeom xmlns:a="http://schemas.openxmlformats.org/drawingml/2006/main" prst="rect">
            <a:avLst/>
          </a:prstGeom>
          <a:solidFill xmlns:a="http://schemas.openxmlformats.org/drawingml/2006/main">
            <a:srgbClr val="E4CCD3"/>
          </a:solidFill>
          <a:ln xmlns:a="http://schemas.openxmlformats.org/drawingml/2006/main" w="9525">
            <a:solidFill>
              <a:srgbClr val="E4CCD3"/>
            </a:solidFill>
          </a:ln>
        </p:spPr>
      </p:sp>
      <p:sp>
        <p:nvSpPr>
          <p:cNvPr id="7" name="">
            <a:extLst xmlns:a="http://schemas.openxmlformats.org/drawingml/2006/main">
              <a:ext uri="{FF2B5EF4-FFF2-40B4-BE49-F238E27FC236}">
                <a16:creationId xmlns:a16="http://schemas.microsoft.com/office/drawing/2014/main" id="{136BF68B-736D-4BFD-8FC4-8C2A4E4E499E}"/>
              </a:ext>
            </a:extLst>
          </p:cNvPr>
          <p:cNvSpPr>
            <a:spLocks xmlns:a="http://schemas.openxmlformats.org/drawingml/2006/main" noGrp="1"/>
          </p:cNvSpPr>
          <p:nvPr/>
        </p:nvSpPr>
        <p:spPr>
          <a:xfrm xmlns:a="http://schemas.openxmlformats.org/drawingml/2006/main">
            <a:off x="685800" y="3028950"/>
            <a:ext cx="23812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077"/>
          </a:bodyPr>
          <a:lstStyle xmlns:a="http://schemas.openxmlformats.org/drawingml/2006/main"/>
          <a:p xmlns:a="http://schemas.openxmlformats.org/drawingml/2006/main">
            <a:pPr>
              <a:defRPr sz="975" b="1">
                <a:solidFill>
                  <a:srgbClr val="8F354F"/>
                </a:solidFill>
                <a:latin typeface="Arial"/>
                <a:ea typeface="Arial"/>
                <a:cs typeface="Arial"/>
              </a:defRPr>
            </a:pPr>
            <a:r>
              <a:rPr sz="975" b="1">
                <a:solidFill>
                  <a:srgbClr val="8F354F"/>
                </a:solidFill>
                <a:latin typeface="Arial"/>
                <a:ea typeface="Arial"/>
                <a:cs typeface="Arial"/>
              </a:rPr>
              <a:t>PROBLEM DOMAIN</a:t>
            </a:r>
          </a:p>
        </p:txBody>
      </p:sp>
      <p:sp>
        <p:nvSpPr>
          <p:cNvPr id="8" name="">
            <a:extLst xmlns:a="http://schemas.openxmlformats.org/drawingml/2006/main">
              <a:ext uri="{FF2B5EF4-FFF2-40B4-BE49-F238E27FC236}">
                <a16:creationId xmlns:a16="http://schemas.microsoft.com/office/drawing/2014/main" id="{DEEEDDF9-0888-454F-985E-43B0F37AB20B}"/>
              </a:ext>
            </a:extLst>
          </p:cNvPr>
          <p:cNvSpPr>
            <a:spLocks xmlns:a="http://schemas.openxmlformats.org/drawingml/2006/main" noGrp="1"/>
          </p:cNvSpPr>
          <p:nvPr/>
        </p:nvSpPr>
        <p:spPr>
          <a:xfrm xmlns:a="http://schemas.openxmlformats.org/drawingml/2006/main">
            <a:off x="685800" y="3314700"/>
            <a:ext cx="6191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8636"/>
          </a:bodyPr>
          <a:lstStyle xmlns:a="http://schemas.openxmlformats.org/drawingml/2006/main"/>
          <a:p xmlns:a="http://schemas.openxmlformats.org/drawingml/2006/main">
            <a:pPr>
              <a:defRPr sz="1650" b="1">
                <a:solidFill>
                  <a:srgbClr val="35131F"/>
                </a:solidFill>
                <a:latin typeface="Arial"/>
                <a:ea typeface="Arial"/>
                <a:cs typeface="Arial"/>
              </a:defRPr>
            </a:pPr>
            <a:r>
              <a:rPr sz="1650" b="1">
                <a:solidFill>
                  <a:srgbClr val="35131F"/>
                </a:solidFill>
                <a:latin typeface="Arial"/>
                <a:ea typeface="Arial"/>
                <a:cs typeface="Arial"/>
              </a:rPr>
              <a:t>Cybersecurity incident-response planning</a:t>
            </a:r>
          </a:p>
        </p:txBody>
      </p:sp>
      <p:sp>
        <p:nvSpPr>
          <p:cNvPr id="9" name="">
            <a:extLst xmlns:a="http://schemas.openxmlformats.org/drawingml/2006/main">
              <a:ext uri="{FF2B5EF4-FFF2-40B4-BE49-F238E27FC236}">
                <a16:creationId xmlns:a16="http://schemas.microsoft.com/office/drawing/2014/main" id="{1B1CF209-B6DF-4034-B66C-E242429F8581}"/>
              </a:ext>
            </a:extLst>
          </p:cNvPr>
          <p:cNvSpPr>
            <a:spLocks xmlns:a="http://schemas.openxmlformats.org/drawingml/2006/main" noGrp="1"/>
          </p:cNvSpPr>
          <p:nvPr/>
        </p:nvSpPr>
        <p:spPr>
          <a:xfrm xmlns:a="http://schemas.openxmlformats.org/drawingml/2006/main">
            <a:off x="685800" y="367665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222"/>
          </a:bodyPr>
          <a:lstStyle xmlns:a="http://schemas.openxmlformats.org/drawingml/2006/main"/>
          <a:p xmlns:a="http://schemas.openxmlformats.org/drawingml/2006/main">
            <a:pPr>
              <a:defRPr sz="900" b="1">
                <a:solidFill>
                  <a:srgbClr val="8F354F"/>
                </a:solidFill>
                <a:latin typeface="Arial"/>
                <a:ea typeface="Arial"/>
                <a:cs typeface="Arial"/>
              </a:defRPr>
            </a:pPr>
            <a:r>
              <a:rPr sz="900" b="1">
                <a:solidFill>
                  <a:srgbClr val="8F354F"/>
                </a:solidFill>
                <a:latin typeface="Arial"/>
                <a:ea typeface="Arial"/>
                <a:cs typeface="Arial"/>
              </a:rPr>
              <a:t>BRANCH</a:t>
            </a:r>
          </a:p>
        </p:txBody>
      </p:sp>
      <p:sp>
        <p:nvSpPr>
          <p:cNvPr id="10" name="">
            <a:extLst xmlns:a="http://schemas.openxmlformats.org/drawingml/2006/main">
              <a:ext uri="{FF2B5EF4-FFF2-40B4-BE49-F238E27FC236}">
                <a16:creationId xmlns:a16="http://schemas.microsoft.com/office/drawing/2014/main" id="{5EC004DB-8F7A-47AC-8501-1DBD69F7C7AE}"/>
              </a:ext>
            </a:extLst>
          </p:cNvPr>
          <p:cNvSpPr>
            <a:spLocks xmlns:a="http://schemas.openxmlformats.org/drawingml/2006/main" noGrp="1"/>
          </p:cNvSpPr>
          <p:nvPr/>
        </p:nvSpPr>
        <p:spPr>
          <a:xfrm xmlns:a="http://schemas.openxmlformats.org/drawingml/2006/main">
            <a:off x="685800" y="3886200"/>
            <a:ext cx="400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926"/>
          </a:bodyPr>
          <a:lstStyle xmlns:a="http://schemas.openxmlformats.org/drawingml/2006/main"/>
          <a:p xmlns:a="http://schemas.openxmlformats.org/drawingml/2006/main">
            <a:pPr>
              <a:defRPr sz="1350" b="1">
                <a:solidFill>
                  <a:srgbClr val="35131F"/>
                </a:solidFill>
                <a:latin typeface="Arial"/>
                <a:ea typeface="Arial"/>
                <a:cs typeface="Arial"/>
              </a:defRPr>
            </a:pPr>
            <a:r>
              <a:rPr sz="1350" b="1">
                <a:solidFill>
                  <a:srgbClr val="35131F"/>
                </a:solidFill>
                <a:latin typeface="Arial"/>
                <a:ea typeface="Arial"/>
                <a:cs typeface="Arial"/>
              </a:rPr>
              <a:t>CSM - AIML</a:t>
            </a:r>
          </a:p>
        </p:txBody>
      </p:sp>
      <p:sp>
        <p:nvSpPr>
          <p:cNvPr id="11" name="">
            <a:extLst xmlns:a="http://schemas.openxmlformats.org/drawingml/2006/main">
              <a:ext uri="{FF2B5EF4-FFF2-40B4-BE49-F238E27FC236}">
                <a16:creationId xmlns:a16="http://schemas.microsoft.com/office/drawing/2014/main" id="{AC9F872A-966A-4781-8AAE-C63A0FF110AE}"/>
              </a:ext>
            </a:extLst>
          </p:cNvPr>
          <p:cNvSpPr>
            <a:spLocks xmlns:a="http://schemas.openxmlformats.org/drawingml/2006/main" noGrp="1"/>
          </p:cNvSpPr>
          <p:nvPr/>
        </p:nvSpPr>
        <p:spPr>
          <a:xfrm xmlns:a="http://schemas.openxmlformats.org/drawingml/2006/main">
            <a:off x="6191250" y="367665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222"/>
          </a:bodyPr>
          <a:lstStyle xmlns:a="http://schemas.openxmlformats.org/drawingml/2006/main"/>
          <a:p xmlns:a="http://schemas.openxmlformats.org/drawingml/2006/main">
            <a:pPr>
              <a:defRPr sz="900" b="1">
                <a:solidFill>
                  <a:srgbClr val="9E6276"/>
                </a:solidFill>
                <a:latin typeface="Arial"/>
                <a:ea typeface="Arial"/>
                <a:cs typeface="Arial"/>
              </a:defRPr>
            </a:pPr>
            <a:r>
              <a:rPr sz="900" b="1">
                <a:solidFill>
                  <a:srgbClr val="9E6276"/>
                </a:solidFill>
                <a:latin typeface="Arial"/>
                <a:ea typeface="Arial"/>
                <a:cs typeface="Arial"/>
              </a:rPr>
              <a:t>SECTION</a:t>
            </a:r>
          </a:p>
        </p:txBody>
      </p:sp>
      <p:sp>
        <p:nvSpPr>
          <p:cNvPr id="12" name="">
            <a:extLst xmlns:a="http://schemas.openxmlformats.org/drawingml/2006/main">
              <a:ext uri="{FF2B5EF4-FFF2-40B4-BE49-F238E27FC236}">
                <a16:creationId xmlns:a16="http://schemas.microsoft.com/office/drawing/2014/main" id="{68936A61-42BE-4950-862F-C03BF4E90D49}"/>
              </a:ext>
            </a:extLst>
          </p:cNvPr>
          <p:cNvSpPr>
            <a:spLocks xmlns:a="http://schemas.openxmlformats.org/drawingml/2006/main" noGrp="1"/>
          </p:cNvSpPr>
          <p:nvPr/>
        </p:nvSpPr>
        <p:spPr>
          <a:xfrm xmlns:a="http://schemas.openxmlformats.org/drawingml/2006/main">
            <a:off x="6191250" y="3886200"/>
            <a:ext cx="400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926"/>
          </a:bodyPr>
          <a:lstStyle xmlns:a="http://schemas.openxmlformats.org/drawingml/2006/main"/>
          <a:p xmlns:a="http://schemas.openxmlformats.org/drawingml/2006/main">
            <a:pPr>
              <a:defRPr sz="1350" b="1">
                <a:solidFill>
                  <a:srgbClr val="35131F"/>
                </a:solidFill>
                <a:latin typeface="Arial"/>
                <a:ea typeface="Arial"/>
                <a:cs typeface="Arial"/>
              </a:defRPr>
            </a:pPr>
            <a:r>
              <a:rPr sz="1350" b="1">
                <a:solidFill>
                  <a:srgbClr val="35131F"/>
                </a:solidFill>
                <a:latin typeface="Arial"/>
                <a:ea typeface="Arial"/>
                <a:cs typeface="Arial"/>
              </a:rPr>
              <a:t>AIML - F</a:t>
            </a:r>
          </a:p>
        </p:txBody>
      </p:sp>
      <p:sp>
        <p:nvSpPr>
          <p:cNvPr id="13" name="">
            <a:extLst xmlns:a="http://schemas.openxmlformats.org/drawingml/2006/main">
              <a:ext uri="{FF2B5EF4-FFF2-40B4-BE49-F238E27FC236}">
                <a16:creationId xmlns:a16="http://schemas.microsoft.com/office/drawing/2014/main" id="{88D16A81-5178-4434-95A0-A831CD535FCD}"/>
              </a:ext>
            </a:extLst>
          </p:cNvPr>
          <p:cNvSpPr>
            <a:spLocks xmlns:a="http://schemas.openxmlformats.org/drawingml/2006/main" noGrp="1"/>
          </p:cNvSpPr>
          <p:nvPr/>
        </p:nvSpPr>
        <p:spPr>
          <a:xfrm xmlns:a="http://schemas.openxmlformats.org/drawingml/2006/main">
            <a:off x="685800" y="4171950"/>
            <a:ext cx="23812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077"/>
          </a:bodyPr>
          <a:lstStyle xmlns:a="http://schemas.openxmlformats.org/drawingml/2006/main"/>
          <a:p xmlns:a="http://schemas.openxmlformats.org/drawingml/2006/main">
            <a:pPr>
              <a:defRPr sz="975" b="1">
                <a:solidFill>
                  <a:srgbClr val="9E6276"/>
                </a:solidFill>
                <a:latin typeface="Arial"/>
                <a:ea typeface="Arial"/>
                <a:cs typeface="Arial"/>
              </a:defRPr>
            </a:pPr>
            <a:r>
              <a:rPr sz="975" b="1">
                <a:solidFill>
                  <a:srgbClr val="9E6276"/>
                </a:solidFill>
                <a:latin typeface="Arial"/>
                <a:ea typeface="Arial"/>
                <a:cs typeface="Arial"/>
              </a:rPr>
              <a:t>TEAM</a:t>
            </a:r>
          </a:p>
        </p:txBody>
      </p:sp>
      <p:sp>
        <p:nvSpPr>
          <p:cNvPr id="14" name="">
            <a:extLst xmlns:a="http://schemas.openxmlformats.org/drawingml/2006/main">
              <a:ext uri="{FF2B5EF4-FFF2-40B4-BE49-F238E27FC236}">
                <a16:creationId xmlns:a16="http://schemas.microsoft.com/office/drawing/2014/main" id="{94462DC3-3C67-40F9-9942-38A989BB92F1}"/>
              </a:ext>
            </a:extLst>
          </p:cNvPr>
          <p:cNvSpPr>
            <a:spLocks xmlns:a="http://schemas.openxmlformats.org/drawingml/2006/main" noGrp="1"/>
          </p:cNvSpPr>
          <p:nvPr/>
        </p:nvSpPr>
        <p:spPr>
          <a:xfrm xmlns:a="http://schemas.openxmlformats.org/drawingml/2006/main">
            <a:off x="685800" y="447675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702"/>
          </a:bodyPr>
          <a:lstStyle xmlns:a="http://schemas.openxmlformats.org/drawingml/2006/main"/>
          <a:p xmlns:a="http://schemas.openxmlformats.org/drawingml/2006/main">
            <a:pPr>
              <a:defRPr sz="1425" b="1">
                <a:solidFill>
                  <a:srgbClr val="35131F"/>
                </a:solidFill>
                <a:latin typeface="Arial"/>
                <a:ea typeface="Arial"/>
                <a:cs typeface="Arial"/>
              </a:defRPr>
            </a:pPr>
            <a:r>
              <a:rPr sz="1425" b="1">
                <a:solidFill>
                  <a:srgbClr val="35131F"/>
                </a:solidFill>
                <a:latin typeface="Arial"/>
                <a:ea typeface="Arial"/>
                <a:cs typeface="Arial"/>
              </a:rPr>
              <a:t>YALAMADDI PRASHANTH</a:t>
            </a:r>
          </a:p>
        </p:txBody>
      </p:sp>
      <p:sp>
        <p:nvSpPr>
          <p:cNvPr id="15" name="">
            <a:extLst xmlns:a="http://schemas.openxmlformats.org/drawingml/2006/main">
              <a:ext uri="{FF2B5EF4-FFF2-40B4-BE49-F238E27FC236}">
                <a16:creationId xmlns:a16="http://schemas.microsoft.com/office/drawing/2014/main" id="{483013FE-6BD8-41C1-9119-2050D26FE407}"/>
              </a:ext>
            </a:extLst>
          </p:cNvPr>
          <p:cNvSpPr>
            <a:spLocks xmlns:a="http://schemas.openxmlformats.org/drawingml/2006/main" noGrp="1"/>
          </p:cNvSpPr>
          <p:nvPr/>
        </p:nvSpPr>
        <p:spPr>
          <a:xfrm xmlns:a="http://schemas.openxmlformats.org/drawingml/2006/main">
            <a:off x="685800" y="480060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8889"/>
          </a:bodyPr>
          <a:lstStyle xmlns:a="http://schemas.openxmlformats.org/drawingml/2006/main"/>
          <a:p xmlns:a="http://schemas.openxmlformats.org/drawingml/2006/main">
            <a:pPr>
              <a:defRPr sz="1125" b="0">
                <a:solidFill>
                  <a:srgbClr val="826A73"/>
                </a:solidFill>
                <a:latin typeface="Arial"/>
                <a:ea typeface="Arial"/>
                <a:cs typeface="Arial"/>
              </a:defRPr>
            </a:pPr>
            <a:r>
              <a:rPr sz="1125" b="0">
                <a:solidFill>
                  <a:srgbClr val="826A73"/>
                </a:solidFill>
                <a:latin typeface="Arial"/>
                <a:ea typeface="Arial"/>
                <a:cs typeface="Arial"/>
              </a:rPr>
              <a:t>Roll number  25MVCSMR0538</a:t>
            </a:r>
          </a:p>
        </p:txBody>
      </p:sp>
      <p:sp>
        <p:nvSpPr>
          <p:cNvPr id="16" name="">
            <a:extLst xmlns:a="http://schemas.openxmlformats.org/drawingml/2006/main">
              <a:ext uri="{FF2B5EF4-FFF2-40B4-BE49-F238E27FC236}">
                <a16:creationId xmlns:a16="http://schemas.microsoft.com/office/drawing/2014/main" id="{80F3CEE5-FCD1-4168-8C64-B0BCE28C24D0}"/>
              </a:ext>
            </a:extLst>
          </p:cNvPr>
          <p:cNvSpPr>
            <a:spLocks xmlns:a="http://schemas.openxmlformats.org/drawingml/2006/main" noGrp="1"/>
          </p:cNvSpPr>
          <p:nvPr/>
        </p:nvSpPr>
        <p:spPr>
          <a:xfrm xmlns:a="http://schemas.openxmlformats.org/drawingml/2006/main">
            <a:off x="6191250" y="447675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702"/>
          </a:bodyPr>
          <a:lstStyle xmlns:a="http://schemas.openxmlformats.org/drawingml/2006/main"/>
          <a:p xmlns:a="http://schemas.openxmlformats.org/drawingml/2006/main">
            <a:pPr>
              <a:defRPr sz="1425" b="1">
                <a:solidFill>
                  <a:srgbClr val="35131F"/>
                </a:solidFill>
                <a:latin typeface="Arial"/>
                <a:ea typeface="Arial"/>
                <a:cs typeface="Arial"/>
              </a:defRPr>
            </a:pPr>
            <a:r>
              <a:rPr sz="1425" b="1">
                <a:solidFill>
                  <a:srgbClr val="35131F"/>
                </a:solidFill>
                <a:latin typeface="Arial"/>
                <a:ea typeface="Arial"/>
                <a:cs typeface="Arial"/>
              </a:rPr>
              <a:t>M.B.WILSONRAJ</a:t>
            </a:r>
          </a:p>
        </p:txBody>
      </p:sp>
      <p:sp>
        <p:nvSpPr>
          <p:cNvPr id="17" name="">
            <a:extLst xmlns:a="http://schemas.openxmlformats.org/drawingml/2006/main">
              <a:ext uri="{FF2B5EF4-FFF2-40B4-BE49-F238E27FC236}">
                <a16:creationId xmlns:a16="http://schemas.microsoft.com/office/drawing/2014/main" id="{0E94EB4E-3415-4D6F-8C59-97CFF0541710}"/>
              </a:ext>
            </a:extLst>
          </p:cNvPr>
          <p:cNvSpPr>
            <a:spLocks xmlns:a="http://schemas.openxmlformats.org/drawingml/2006/main" noGrp="1"/>
          </p:cNvSpPr>
          <p:nvPr/>
        </p:nvSpPr>
        <p:spPr>
          <a:xfrm xmlns:a="http://schemas.openxmlformats.org/drawingml/2006/main">
            <a:off x="6191250" y="480060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8889"/>
          </a:bodyPr>
          <a:lstStyle xmlns:a="http://schemas.openxmlformats.org/drawingml/2006/main"/>
          <a:p xmlns:a="http://schemas.openxmlformats.org/drawingml/2006/main">
            <a:pPr>
              <a:defRPr sz="1125" b="0">
                <a:solidFill>
                  <a:srgbClr val="826A73"/>
                </a:solidFill>
                <a:latin typeface="Arial"/>
                <a:ea typeface="Arial"/>
                <a:cs typeface="Arial"/>
              </a:defRPr>
            </a:pPr>
            <a:r>
              <a:rPr sz="1125" b="0">
                <a:solidFill>
                  <a:srgbClr val="826A73"/>
                </a:solidFill>
                <a:latin typeface="Arial"/>
                <a:ea typeface="Arial"/>
                <a:cs typeface="Arial"/>
              </a:rPr>
              <a:t>Roll number  25MVCSMR0507</a:t>
            </a:r>
          </a:p>
        </p:txBody>
      </p:sp>
      <p:sp>
        <p:nvSpPr>
          <p:cNvPr id="18" name="">
            <a:extLst xmlns:a="http://schemas.openxmlformats.org/drawingml/2006/main">
              <a:ext uri="{FF2B5EF4-FFF2-40B4-BE49-F238E27FC236}">
                <a16:creationId xmlns:a16="http://schemas.microsoft.com/office/drawing/2014/main" id="{857CB359-EA92-4BE1-8650-94F432EF88D8}"/>
              </a:ext>
            </a:extLst>
          </p:cNvPr>
          <p:cNvSpPr>
            <a:spLocks xmlns:a="http://schemas.openxmlformats.org/drawingml/2006/main" noGrp="1"/>
          </p:cNvSpPr>
          <p:nvPr/>
        </p:nvSpPr>
        <p:spPr>
          <a:xfrm xmlns:a="http://schemas.openxmlformats.org/drawingml/2006/main">
            <a:off x="685800" y="535305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702"/>
          </a:bodyPr>
          <a:lstStyle xmlns:a="http://schemas.openxmlformats.org/drawingml/2006/main"/>
          <a:p xmlns:a="http://schemas.openxmlformats.org/drawingml/2006/main">
            <a:pPr>
              <a:defRPr sz="1425" b="1">
                <a:solidFill>
                  <a:srgbClr val="35131F"/>
                </a:solidFill>
                <a:latin typeface="Arial"/>
                <a:ea typeface="Arial"/>
                <a:cs typeface="Arial"/>
              </a:defRPr>
            </a:pPr>
            <a:r>
              <a:rPr sz="1425" b="1">
                <a:solidFill>
                  <a:srgbClr val="35131F"/>
                </a:solidFill>
                <a:latin typeface="Arial"/>
                <a:ea typeface="Arial"/>
                <a:cs typeface="Arial"/>
              </a:rPr>
              <a:t>SAI DIKSHIT REDDY</a:t>
            </a:r>
          </a:p>
        </p:txBody>
      </p:sp>
      <p:sp>
        <p:nvSpPr>
          <p:cNvPr id="19" name="">
            <a:extLst xmlns:a="http://schemas.openxmlformats.org/drawingml/2006/main">
              <a:ext uri="{FF2B5EF4-FFF2-40B4-BE49-F238E27FC236}">
                <a16:creationId xmlns:a16="http://schemas.microsoft.com/office/drawing/2014/main" id="{9D352236-601E-4696-96E7-E4B739FA9A78}"/>
              </a:ext>
            </a:extLst>
          </p:cNvPr>
          <p:cNvSpPr>
            <a:spLocks xmlns:a="http://schemas.openxmlformats.org/drawingml/2006/main" noGrp="1"/>
          </p:cNvSpPr>
          <p:nvPr/>
        </p:nvSpPr>
        <p:spPr>
          <a:xfrm xmlns:a="http://schemas.openxmlformats.org/drawingml/2006/main">
            <a:off x="685800" y="567690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8889"/>
          </a:bodyPr>
          <a:lstStyle xmlns:a="http://schemas.openxmlformats.org/drawingml/2006/main"/>
          <a:p xmlns:a="http://schemas.openxmlformats.org/drawingml/2006/main">
            <a:pPr>
              <a:defRPr sz="1125" b="0">
                <a:solidFill>
                  <a:srgbClr val="826A73"/>
                </a:solidFill>
                <a:latin typeface="Arial"/>
                <a:ea typeface="Arial"/>
                <a:cs typeface="Arial"/>
              </a:defRPr>
            </a:pPr>
            <a:r>
              <a:rPr sz="1125" b="0">
                <a:solidFill>
                  <a:srgbClr val="826A73"/>
                </a:solidFill>
                <a:latin typeface="Arial"/>
                <a:ea typeface="Arial"/>
                <a:cs typeface="Arial"/>
              </a:rPr>
              <a:t>Roll number  25MVCSMR0478</a:t>
            </a:r>
          </a:p>
        </p:txBody>
      </p:sp>
      <p:sp>
        <p:nvSpPr>
          <p:cNvPr id="20" name="">
            <a:extLst xmlns:a="http://schemas.openxmlformats.org/drawingml/2006/main">
              <a:ext uri="{FF2B5EF4-FFF2-40B4-BE49-F238E27FC236}">
                <a16:creationId xmlns:a16="http://schemas.microsoft.com/office/drawing/2014/main" id="{C9277D1C-3A92-4E8C-A34A-B87A9F87F1F5}"/>
              </a:ext>
            </a:extLst>
          </p:cNvPr>
          <p:cNvSpPr>
            <a:spLocks xmlns:a="http://schemas.openxmlformats.org/drawingml/2006/main" noGrp="1"/>
          </p:cNvSpPr>
          <p:nvPr/>
        </p:nvSpPr>
        <p:spPr>
          <a:xfrm xmlns:a="http://schemas.openxmlformats.org/drawingml/2006/main">
            <a:off x="6191250" y="535305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702"/>
          </a:bodyPr>
          <a:lstStyle xmlns:a="http://schemas.openxmlformats.org/drawingml/2006/main"/>
          <a:p xmlns:a="http://schemas.openxmlformats.org/drawingml/2006/main">
            <a:pPr>
              <a:defRPr sz="1425" b="1">
                <a:solidFill>
                  <a:srgbClr val="35131F"/>
                </a:solidFill>
                <a:latin typeface="Arial"/>
                <a:ea typeface="Arial"/>
                <a:cs typeface="Arial"/>
              </a:defRPr>
            </a:pPr>
            <a:r>
              <a:rPr sz="1425" b="1">
                <a:solidFill>
                  <a:srgbClr val="35131F"/>
                </a:solidFill>
                <a:latin typeface="Arial"/>
                <a:ea typeface="Arial"/>
                <a:cs typeface="Arial"/>
              </a:rPr>
              <a:t>BODINI LOKESH GOUD</a:t>
            </a:r>
          </a:p>
        </p:txBody>
      </p:sp>
      <p:sp>
        <p:nvSpPr>
          <p:cNvPr id="21" name="">
            <a:extLst xmlns:a="http://schemas.openxmlformats.org/drawingml/2006/main">
              <a:ext uri="{FF2B5EF4-FFF2-40B4-BE49-F238E27FC236}">
                <a16:creationId xmlns:a16="http://schemas.microsoft.com/office/drawing/2014/main" id="{30DAD8CE-F1B9-4C8F-A1D9-AFC8A24CAB44}"/>
              </a:ext>
            </a:extLst>
          </p:cNvPr>
          <p:cNvSpPr>
            <a:spLocks xmlns:a="http://schemas.openxmlformats.org/drawingml/2006/main" noGrp="1"/>
          </p:cNvSpPr>
          <p:nvPr/>
        </p:nvSpPr>
        <p:spPr>
          <a:xfrm xmlns:a="http://schemas.openxmlformats.org/drawingml/2006/main">
            <a:off x="6191250" y="567690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8889"/>
          </a:bodyPr>
          <a:lstStyle xmlns:a="http://schemas.openxmlformats.org/drawingml/2006/main"/>
          <a:p xmlns:a="http://schemas.openxmlformats.org/drawingml/2006/main">
            <a:pPr>
              <a:defRPr sz="1125" b="0">
                <a:solidFill>
                  <a:srgbClr val="826A73"/>
                </a:solidFill>
                <a:latin typeface="Arial"/>
                <a:ea typeface="Arial"/>
                <a:cs typeface="Arial"/>
              </a:defRPr>
            </a:pPr>
            <a:r>
              <a:rPr sz="1125" b="0">
                <a:solidFill>
                  <a:srgbClr val="826A73"/>
                </a:solidFill>
                <a:latin typeface="Arial"/>
                <a:ea typeface="Arial"/>
                <a:cs typeface="Arial"/>
              </a:rPr>
              <a:t>Roll number  25MVCSMR0473</a:t>
            </a:r>
          </a:p>
        </p:txBody>
      </p:sp>
      <p:sp>
        <p:nvSpPr>
          <p:cNvPr id="22" name="">
            <a:extLst xmlns:a="http://schemas.openxmlformats.org/drawingml/2006/main">
              <a:ext uri="{FF2B5EF4-FFF2-40B4-BE49-F238E27FC236}">
                <a16:creationId xmlns:a16="http://schemas.microsoft.com/office/drawing/2014/main" id="{50AC0254-6849-4060-9FAF-5F60265B80BC}"/>
              </a:ext>
            </a:extLst>
          </p:cNvPr>
          <p:cNvSpPr>
            <a:spLocks xmlns:a="http://schemas.openxmlformats.org/drawingml/2006/main" noGrp="1"/>
          </p:cNvSpPr>
          <p:nvPr/>
        </p:nvSpPr>
        <p:spPr>
          <a:xfrm xmlns:a="http://schemas.openxmlformats.org/drawingml/2006/main">
            <a:off x="685800" y="6486525"/>
            <a:ext cx="838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222"/>
          </a:bodyPr>
          <a:lstStyle xmlns:a="http://schemas.openxmlformats.org/drawingml/2006/main"/>
          <a:p xmlns:a="http://schemas.openxmlformats.org/drawingml/2006/main">
            <a:pPr>
              <a:defRPr sz="900" b="1">
                <a:solidFill>
                  <a:srgbClr val="826A73"/>
                </a:solidFill>
                <a:latin typeface="Arial"/>
                <a:ea typeface="Arial"/>
                <a:cs typeface="Arial"/>
              </a:defRPr>
            </a:pPr>
            <a:r>
              <a:rPr sz="900" b="1">
                <a:solidFill>
                  <a:srgbClr val="826A73"/>
                </a:solidFill>
                <a:latin typeface="Arial"/>
                <a:ea typeface="Arial"/>
                <a:cs typeface="Arial"/>
              </a:rPr>
              <a:t>PROBLEM 92    CYBER INCIDENT RESPONSE PLANNER</a:t>
            </a:r>
          </a:p>
        </p:txBody>
      </p:sp>
      <p:sp>
        <p:nvSpPr>
          <p:cNvPr id="23" name="">
            <a:extLst xmlns:a="http://schemas.openxmlformats.org/drawingml/2006/main">
              <a:ext uri="{FF2B5EF4-FFF2-40B4-BE49-F238E27FC236}">
                <a16:creationId xmlns:a16="http://schemas.microsoft.com/office/drawing/2014/main" id="{56C20FB1-AE51-4C06-B43C-9411EF53E5C7}"/>
              </a:ext>
            </a:extLst>
          </p:cNvPr>
          <p:cNvSpPr>
            <a:spLocks xmlns:a="http://schemas.openxmlformats.org/drawingml/2006/main" noGrp="1"/>
          </p:cNvSpPr>
          <p:nvPr/>
        </p:nvSpPr>
        <p:spPr>
          <a:xfrm xmlns:a="http://schemas.openxmlformats.org/drawingml/2006/main">
            <a:off x="10668000" y="6486525"/>
            <a:ext cx="838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222"/>
          </a:bodyPr>
          <a:lstStyle xmlns:a="http://schemas.openxmlformats.org/drawingml/2006/main"/>
          <a:p xmlns:a="http://schemas.openxmlformats.org/drawingml/2006/main">
            <a:pPr>
              <a:defRPr sz="900" b="1">
                <a:solidFill>
                  <a:srgbClr val="826A73"/>
                </a:solidFill>
                <a:latin typeface="Arial"/>
                <a:ea typeface="Arial"/>
                <a:cs typeface="Arial"/>
              </a:defRPr>
            </a:pPr>
            <a:r>
              <a:rPr sz="900" b="1">
                <a:solidFill>
                  <a:srgbClr val="826A73"/>
                </a:solidFill>
                <a:latin typeface="Arial"/>
                <a:ea typeface="Arial"/>
                <a:cs typeface="Arial"/>
              </a:rPr>
              <a:t>01 / 07</a:t>
            </a:r>
          </a:p>
        </p:txBody>
      </p:sp>
    </p:spTree>
    <p:extLst>
      <p:ext uri="{BB962C8B-B14F-4D97-AF65-F5344CB8AC3E}">
        <p14:creationId xmlns:p14="http://schemas.microsoft.com/office/powerpoint/2010/main" val="944287966"/>
      </p:ext>
    </p:extLst>
  </p:cSld>
</p:sld>
</file>

<file path=ppt/slides/slide2.xml><?xml version="1.0" encoding="utf-8"?>
<p:sld xmlns:p="http://schemas.openxmlformats.org/presentationml/2006/main">
  <p:cSld>
    <p:bg>
      <p:bgPr>
        <a:solidFill xmlns:a="http://schemas.openxmlformats.org/drawingml/2006/main">
          <a:srgbClr val="F7EEF1"/>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DC387529-5AE9-4B1B-BB1F-92AB1EF63B69}"/>
              </a:ext>
            </a:extLst>
          </p:cNvPr>
          <p:cNvSpPr>
            <a:spLocks xmlns:a="http://schemas.openxmlformats.org/drawingml/2006/main" noGrp="1"/>
          </p:cNvSpPr>
          <p:nvPr/>
        </p:nvSpPr>
        <p:spPr>
          <a:xfrm xmlns:a="http://schemas.openxmlformats.org/drawingml/2006/main">
            <a:off x="685800" y="400050"/>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9487"/>
          </a:bodyPr>
          <a:lstStyle xmlns:a="http://schemas.openxmlformats.org/drawingml/2006/main"/>
          <a:p xmlns:a="http://schemas.openxmlformats.org/drawingml/2006/main">
            <a:pPr>
              <a:defRPr sz="975" b="1">
                <a:solidFill>
                  <a:srgbClr val="8F354F"/>
                </a:solidFill>
                <a:latin typeface="Arial"/>
                <a:ea typeface="Arial"/>
                <a:cs typeface="Arial"/>
              </a:defRPr>
            </a:pPr>
            <a:r>
              <a:rPr sz="975" b="1">
                <a:solidFill>
                  <a:srgbClr val="8F354F"/>
                </a:solidFill>
                <a:latin typeface="Arial"/>
                <a:ea typeface="Arial"/>
                <a:cs typeface="Arial"/>
              </a:rPr>
              <a:t>THE CHALLENGE</a:t>
            </a:r>
          </a:p>
        </p:txBody>
      </p:sp>
      <p:sp>
        <p:nvSpPr>
          <p:cNvPr id="2" name="">
            <a:extLst xmlns:a="http://schemas.openxmlformats.org/drawingml/2006/main">
              <a:ext uri="{FF2B5EF4-FFF2-40B4-BE49-F238E27FC236}">
                <a16:creationId xmlns:a16="http://schemas.microsoft.com/office/drawing/2014/main" id="{65E478AB-AECD-464C-A43A-075D36698164}"/>
              </a:ext>
            </a:extLst>
          </p:cNvPr>
          <p:cNvSpPr>
            <a:spLocks xmlns:a="http://schemas.openxmlformats.org/drawingml/2006/main" noGrp="1"/>
          </p:cNvSpPr>
          <p:nvPr/>
        </p:nvSpPr>
        <p:spPr>
          <a:xfrm xmlns:a="http://schemas.openxmlformats.org/drawingml/2006/main">
            <a:off x="685800" y="742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150" b="1">
                <a:solidFill>
                  <a:srgbClr val="35131F"/>
                </a:solidFill>
                <a:latin typeface="Arial"/>
                <a:ea typeface="Arial"/>
                <a:cs typeface="Arial"/>
              </a:defRPr>
            </a:pPr>
            <a:r>
              <a:rPr sz="3150" b="1">
                <a:solidFill>
                  <a:srgbClr val="35131F"/>
                </a:solidFill>
                <a:latin typeface="Arial"/>
                <a:ea typeface="Arial"/>
                <a:cs typeface="Arial"/>
              </a:rPr>
              <a:t>Incidents touch connected systems.</a:t>
            </a:r>
          </a:p>
        </p:txBody>
      </p:sp>
      <p:sp>
        <p:nvSpPr>
          <p:cNvPr id="3" name="">
            <a:extLst xmlns:a="http://schemas.openxmlformats.org/drawingml/2006/main">
              <a:ext uri="{FF2B5EF4-FFF2-40B4-BE49-F238E27FC236}">
                <a16:creationId xmlns:a16="http://schemas.microsoft.com/office/drawing/2014/main" id="{DD287EC2-E27A-4F26-AE27-748208C33DA4}"/>
              </a:ext>
            </a:extLst>
          </p:cNvPr>
          <p:cNvSpPr>
            <a:spLocks xmlns:a="http://schemas.openxmlformats.org/drawingml/2006/main" noGrp="1"/>
          </p:cNvSpPr>
          <p:nvPr/>
        </p:nvSpPr>
        <p:spPr>
          <a:xfrm xmlns:a="http://schemas.openxmlformats.org/drawingml/2006/main">
            <a:off x="685800" y="1562100"/>
            <a:ext cx="10820400" cy="9525"/>
          </a:xfrm>
          <a:prstGeom xmlns:a="http://schemas.openxmlformats.org/drawingml/2006/main" prst="rect">
            <a:avLst/>
          </a:prstGeom>
          <a:solidFill xmlns:a="http://schemas.openxmlformats.org/drawingml/2006/main">
            <a:srgbClr val="E4CCD3"/>
          </a:solidFill>
          <a:ln xmlns:a="http://schemas.openxmlformats.org/drawingml/2006/main" w="9525">
            <a:solidFill>
              <a:srgbClr val="E4CCD3"/>
            </a:solidFill>
          </a:ln>
        </p:spPr>
      </p:sp>
      <p:sp>
        <p:nvSpPr>
          <p:cNvPr id="4" name="">
            <a:extLst xmlns:a="http://schemas.openxmlformats.org/drawingml/2006/main">
              <a:ext uri="{FF2B5EF4-FFF2-40B4-BE49-F238E27FC236}">
                <a16:creationId xmlns:a16="http://schemas.microsoft.com/office/drawing/2014/main" id="{21FDA8E4-4418-4274-94B8-EBFD973A3980}"/>
              </a:ext>
            </a:extLst>
          </p:cNvPr>
          <p:cNvSpPr>
            <a:spLocks xmlns:a="http://schemas.openxmlformats.org/drawingml/2006/main" noGrp="1"/>
          </p:cNvSpPr>
          <p:nvPr/>
        </p:nvSpPr>
        <p:spPr>
          <a:xfrm xmlns:a="http://schemas.openxmlformats.org/drawingml/2006/main">
            <a:off x="685800" y="18478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b="0">
                <a:solidFill>
                  <a:srgbClr val="35131F"/>
                </a:solidFill>
                <a:latin typeface="Arial"/>
                <a:ea typeface="Arial"/>
                <a:cs typeface="Arial"/>
              </a:defRPr>
            </a:pPr>
            <a:r>
              <a:rPr sz="1800" b="0">
                <a:solidFill>
                  <a:srgbClr val="35131F"/>
                </a:solidFill>
                <a:latin typeface="Arial"/>
                <a:ea typeface="Arial"/>
                <a:cs typeface="Arial"/>
              </a:rPr>
              <a:t>During an incident, responders must decide which alert to examine first and how affected systems relate to one another before they consider containment.</a:t>
            </a:r>
          </a:p>
        </p:txBody>
      </p:sp>
      <p:sp>
        <p:nvSpPr>
          <p:cNvPr id="5" name="">
            <a:extLst xmlns:a="http://schemas.openxmlformats.org/drawingml/2006/main">
              <a:ext uri="{FF2B5EF4-FFF2-40B4-BE49-F238E27FC236}">
                <a16:creationId xmlns:a16="http://schemas.microsoft.com/office/drawing/2014/main" id="{53539683-4A2E-445E-A214-22CF42773FA2}"/>
              </a:ext>
            </a:extLst>
          </p:cNvPr>
          <p:cNvSpPr>
            <a:spLocks xmlns:a="http://schemas.openxmlformats.org/drawingml/2006/main" noGrp="1"/>
          </p:cNvSpPr>
          <p:nvPr/>
        </p:nvSpPr>
        <p:spPr>
          <a:xfrm xmlns:a="http://schemas.openxmlformats.org/drawingml/2006/main">
            <a:off x="685800" y="2857500"/>
            <a:ext cx="333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9487"/>
          </a:bodyPr>
          <a:lstStyle xmlns:a="http://schemas.openxmlformats.org/drawingml/2006/main"/>
          <a:p xmlns:a="http://schemas.openxmlformats.org/drawingml/2006/main">
            <a:pPr>
              <a:defRPr sz="975" b="1">
                <a:solidFill>
                  <a:srgbClr val="8F354F"/>
                </a:solidFill>
                <a:latin typeface="Arial"/>
                <a:ea typeface="Arial"/>
                <a:cs typeface="Arial"/>
              </a:defRPr>
            </a:pPr>
            <a:r>
              <a:rPr sz="975" b="1">
                <a:solidFill>
                  <a:srgbClr val="8F354F"/>
                </a:solidFill>
                <a:latin typeface="Arial"/>
                <a:ea typeface="Arial"/>
                <a:cs typeface="Arial"/>
              </a:rPr>
              <a:t>WHY IT MATTERS</a:t>
            </a:r>
          </a:p>
        </p:txBody>
      </p:sp>
      <p:sp>
        <p:nvSpPr>
          <p:cNvPr id="6" name="">
            <a:extLst xmlns:a="http://schemas.openxmlformats.org/drawingml/2006/main">
              <a:ext uri="{FF2B5EF4-FFF2-40B4-BE49-F238E27FC236}">
                <a16:creationId xmlns:a16="http://schemas.microsoft.com/office/drawing/2014/main" id="{76C48926-7F5C-4354-A607-E3FB63F3BD60}"/>
              </a:ext>
            </a:extLst>
          </p:cNvPr>
          <p:cNvSpPr>
            <a:spLocks xmlns:a="http://schemas.openxmlformats.org/drawingml/2006/main" noGrp="1"/>
          </p:cNvSpPr>
          <p:nvPr/>
        </p:nvSpPr>
        <p:spPr>
          <a:xfrm xmlns:a="http://schemas.openxmlformats.org/drawingml/2006/main">
            <a:off x="685800" y="3152775"/>
            <a:ext cx="4476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0">
                <a:solidFill>
                  <a:srgbClr val="35131F"/>
                </a:solidFill>
                <a:latin typeface="Arial"/>
                <a:ea typeface="Arial"/>
                <a:cs typeface="Arial"/>
              </a:defRPr>
            </a:pPr>
            <a:r>
              <a:rPr sz="1500" b="0">
                <a:solidFill>
                  <a:srgbClr val="35131F"/>
                </a:solidFill>
                <a:latin typeface="Arial"/>
                <a:ea typeface="Arial"/>
                <a:cs typeface="Arial"/>
              </a:rPr>
              <a:t>A clear rationale supports human review when service availability, evidence preservation, and response effort all matter.</a:t>
            </a:r>
          </a:p>
        </p:txBody>
      </p:sp>
      <p:sp>
        <p:nvSpPr>
          <p:cNvPr id="7" name="">
            <a:extLst xmlns:a="http://schemas.openxmlformats.org/drawingml/2006/main">
              <a:ext uri="{FF2B5EF4-FFF2-40B4-BE49-F238E27FC236}">
                <a16:creationId xmlns:a16="http://schemas.microsoft.com/office/drawing/2014/main" id="{503F21F5-43DE-422E-9598-D6A771ED368D}"/>
              </a:ext>
            </a:extLst>
          </p:cNvPr>
          <p:cNvSpPr>
            <a:spLocks xmlns:a="http://schemas.openxmlformats.org/drawingml/2006/main" noGrp="1"/>
          </p:cNvSpPr>
          <p:nvPr/>
        </p:nvSpPr>
        <p:spPr>
          <a:xfrm xmlns:a="http://schemas.openxmlformats.org/drawingml/2006/main">
            <a:off x="6191250" y="285750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9487"/>
          </a:bodyPr>
          <a:lstStyle xmlns:a="http://schemas.openxmlformats.org/drawingml/2006/main"/>
          <a:p xmlns:a="http://schemas.openxmlformats.org/drawingml/2006/main">
            <a:pPr>
              <a:defRPr sz="975" b="1">
                <a:solidFill>
                  <a:srgbClr val="9E6276"/>
                </a:solidFill>
                <a:latin typeface="Arial"/>
                <a:ea typeface="Arial"/>
                <a:cs typeface="Arial"/>
              </a:defRPr>
            </a:pPr>
            <a:r>
              <a:rPr sz="975" b="1">
                <a:solidFill>
                  <a:srgbClr val="9E6276"/>
                </a:solidFill>
                <a:latin typeface="Arial"/>
                <a:ea typeface="Arial"/>
                <a:cs typeface="Arial"/>
              </a:rPr>
              <a:t>KEY CHALLENGES</a:t>
            </a:r>
          </a:p>
        </p:txBody>
      </p:sp>
      <p:sp>
        <p:nvSpPr>
          <p:cNvPr id="8" name="">
            <a:extLst xmlns:a="http://schemas.openxmlformats.org/drawingml/2006/main">
              <a:ext uri="{FF2B5EF4-FFF2-40B4-BE49-F238E27FC236}">
                <a16:creationId xmlns:a16="http://schemas.microsoft.com/office/drawing/2014/main" id="{0573DC16-EE76-4E98-9372-8B1A1148E047}"/>
              </a:ext>
            </a:extLst>
          </p:cNvPr>
          <p:cNvSpPr>
            <a:spLocks xmlns:a="http://schemas.openxmlformats.org/drawingml/2006/main" noGrp="1"/>
          </p:cNvSpPr>
          <p:nvPr/>
        </p:nvSpPr>
        <p:spPr>
          <a:xfrm xmlns:a="http://schemas.openxmlformats.org/drawingml/2006/main">
            <a:off x="6191250" y="3152775"/>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185"/>
          </a:bodyPr>
          <a:lstStyle xmlns:a="http://schemas.openxmlformats.org/drawingml/2006/main"/>
          <a:p xmlns:a="http://schemas.openxmlformats.org/drawingml/2006/main">
            <a:pPr>
              <a:defRPr sz="1350" b="1">
                <a:solidFill>
                  <a:srgbClr val="8F354F"/>
                </a:solidFill>
                <a:latin typeface="Arial"/>
                <a:ea typeface="Arial"/>
                <a:cs typeface="Arial"/>
              </a:defRPr>
            </a:pPr>
            <a:r>
              <a:rPr sz="1350" b="1">
                <a:solidFill>
                  <a:srgbClr val="8F354F"/>
                </a:solidFill>
                <a:latin typeface="Arial"/>
                <a:ea typeface="Arial"/>
                <a:cs typeface="Arial"/>
              </a:rPr>
              <a:t>01</a:t>
            </a:r>
          </a:p>
        </p:txBody>
      </p:sp>
      <p:sp>
        <p:nvSpPr>
          <p:cNvPr id="9" name="">
            <a:extLst xmlns:a="http://schemas.openxmlformats.org/drawingml/2006/main">
              <a:ext uri="{FF2B5EF4-FFF2-40B4-BE49-F238E27FC236}">
                <a16:creationId xmlns:a16="http://schemas.microsoft.com/office/drawing/2014/main" id="{9060A9A0-0CD1-4858-A605-2861C969DE51}"/>
              </a:ext>
            </a:extLst>
          </p:cNvPr>
          <p:cNvSpPr>
            <a:spLocks xmlns:a="http://schemas.openxmlformats.org/drawingml/2006/main" noGrp="1"/>
          </p:cNvSpPr>
          <p:nvPr/>
        </p:nvSpPr>
        <p:spPr>
          <a:xfrm xmlns:a="http://schemas.openxmlformats.org/drawingml/2006/main">
            <a:off x="6705600" y="3152775"/>
            <a:ext cx="447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425" b="0">
                <a:solidFill>
                  <a:srgbClr val="35131F"/>
                </a:solidFill>
                <a:latin typeface="Arial"/>
                <a:ea typeface="Arial"/>
                <a:cs typeface="Arial"/>
              </a:defRPr>
            </a:pPr>
            <a:r>
              <a:rPr sz="1425" b="0">
                <a:solidFill>
                  <a:srgbClr val="35131F"/>
                </a:solidFill>
                <a:latin typeface="Arial"/>
                <a:ea typeface="Arial"/>
                <a:cs typeface="Arial"/>
              </a:rPr>
              <a:t>Rank competing alerts with visible criteria.</a:t>
            </a:r>
          </a:p>
        </p:txBody>
      </p:sp>
      <p:sp>
        <p:nvSpPr>
          <p:cNvPr id="10" name="">
            <a:extLst xmlns:a="http://schemas.openxmlformats.org/drawingml/2006/main">
              <a:ext uri="{FF2B5EF4-FFF2-40B4-BE49-F238E27FC236}">
                <a16:creationId xmlns:a16="http://schemas.microsoft.com/office/drawing/2014/main" id="{E2FF3C94-92EF-466C-B202-4C9D14F324EE}"/>
              </a:ext>
            </a:extLst>
          </p:cNvPr>
          <p:cNvSpPr>
            <a:spLocks xmlns:a="http://schemas.openxmlformats.org/drawingml/2006/main" noGrp="1"/>
          </p:cNvSpPr>
          <p:nvPr/>
        </p:nvSpPr>
        <p:spPr>
          <a:xfrm xmlns:a="http://schemas.openxmlformats.org/drawingml/2006/main">
            <a:off x="6191250" y="3705225"/>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185"/>
          </a:bodyPr>
          <a:lstStyle xmlns:a="http://schemas.openxmlformats.org/drawingml/2006/main"/>
          <a:p xmlns:a="http://schemas.openxmlformats.org/drawingml/2006/main">
            <a:pPr>
              <a:defRPr sz="1350" b="1">
                <a:solidFill>
                  <a:srgbClr val="8F354F"/>
                </a:solidFill>
                <a:latin typeface="Arial"/>
                <a:ea typeface="Arial"/>
                <a:cs typeface="Arial"/>
              </a:defRPr>
            </a:pPr>
            <a:r>
              <a:rPr sz="1350" b="1">
                <a:solidFill>
                  <a:srgbClr val="8F354F"/>
                </a:solidFill>
                <a:latin typeface="Arial"/>
                <a:ea typeface="Arial"/>
                <a:cs typeface="Arial"/>
              </a:rPr>
              <a:t>02</a:t>
            </a:r>
          </a:p>
        </p:txBody>
      </p:sp>
      <p:sp>
        <p:nvSpPr>
          <p:cNvPr id="11" name="">
            <a:extLst xmlns:a="http://schemas.openxmlformats.org/drawingml/2006/main">
              <a:ext uri="{FF2B5EF4-FFF2-40B4-BE49-F238E27FC236}">
                <a16:creationId xmlns:a16="http://schemas.microsoft.com/office/drawing/2014/main" id="{88BBBAED-C490-41FB-B122-B64E62031ACC}"/>
              </a:ext>
            </a:extLst>
          </p:cNvPr>
          <p:cNvSpPr>
            <a:spLocks xmlns:a="http://schemas.openxmlformats.org/drawingml/2006/main" noGrp="1"/>
          </p:cNvSpPr>
          <p:nvPr/>
        </p:nvSpPr>
        <p:spPr>
          <a:xfrm xmlns:a="http://schemas.openxmlformats.org/drawingml/2006/main">
            <a:off x="6705600" y="3705225"/>
            <a:ext cx="447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425" b="0">
                <a:solidFill>
                  <a:srgbClr val="35131F"/>
                </a:solidFill>
                <a:latin typeface="Arial"/>
                <a:ea typeface="Arial"/>
                <a:cs typeface="Arial"/>
              </a:defRPr>
            </a:pPr>
            <a:r>
              <a:rPr sz="1425" b="0">
                <a:solidFill>
                  <a:srgbClr val="35131F"/>
                </a:solidFill>
                <a:latin typeface="Arial"/>
                <a:ea typeface="Arial"/>
                <a:cs typeface="Arial"/>
              </a:rPr>
              <a:t>Represent possible reachability between systems.</a:t>
            </a:r>
          </a:p>
        </p:txBody>
      </p:sp>
      <p:sp>
        <p:nvSpPr>
          <p:cNvPr id="12" name="">
            <a:extLst xmlns:a="http://schemas.openxmlformats.org/drawingml/2006/main">
              <a:ext uri="{FF2B5EF4-FFF2-40B4-BE49-F238E27FC236}">
                <a16:creationId xmlns:a16="http://schemas.microsoft.com/office/drawing/2014/main" id="{7328D95D-8DFB-4C6C-A4A9-C58728A29956}"/>
              </a:ext>
            </a:extLst>
          </p:cNvPr>
          <p:cNvSpPr>
            <a:spLocks xmlns:a="http://schemas.openxmlformats.org/drawingml/2006/main" noGrp="1"/>
          </p:cNvSpPr>
          <p:nvPr/>
        </p:nvSpPr>
        <p:spPr>
          <a:xfrm xmlns:a="http://schemas.openxmlformats.org/drawingml/2006/main">
            <a:off x="6191250" y="4257675"/>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185"/>
          </a:bodyPr>
          <a:lstStyle xmlns:a="http://schemas.openxmlformats.org/drawingml/2006/main"/>
          <a:p xmlns:a="http://schemas.openxmlformats.org/drawingml/2006/main">
            <a:pPr>
              <a:defRPr sz="1350" b="1">
                <a:solidFill>
                  <a:srgbClr val="8F354F"/>
                </a:solidFill>
                <a:latin typeface="Arial"/>
                <a:ea typeface="Arial"/>
                <a:cs typeface="Arial"/>
              </a:defRPr>
            </a:pPr>
            <a:r>
              <a:rPr sz="1350" b="1">
                <a:solidFill>
                  <a:srgbClr val="8F354F"/>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69A36970-6ED0-4AAE-993D-06E83573FAC8}"/>
              </a:ext>
            </a:extLst>
          </p:cNvPr>
          <p:cNvSpPr>
            <a:spLocks xmlns:a="http://schemas.openxmlformats.org/drawingml/2006/main" noGrp="1"/>
          </p:cNvSpPr>
          <p:nvPr/>
        </p:nvSpPr>
        <p:spPr>
          <a:xfrm xmlns:a="http://schemas.openxmlformats.org/drawingml/2006/main">
            <a:off x="6705600" y="4257675"/>
            <a:ext cx="447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425" b="0">
                <a:solidFill>
                  <a:srgbClr val="35131F"/>
                </a:solidFill>
                <a:latin typeface="Arial"/>
                <a:ea typeface="Arial"/>
                <a:cs typeface="Arial"/>
              </a:defRPr>
            </a:pPr>
            <a:r>
              <a:rPr sz="1425" b="0">
                <a:solidFill>
                  <a:srgbClr val="35131F"/>
                </a:solidFill>
                <a:latin typeface="Arial"/>
                <a:ea typeface="Arial"/>
                <a:cs typeface="Arial"/>
              </a:rPr>
              <a:t>Compare routes with different hop counts and costs.</a:t>
            </a:r>
          </a:p>
        </p:txBody>
      </p:sp>
      <p:sp>
        <p:nvSpPr>
          <p:cNvPr id="14" name="">
            <a:extLst xmlns:a="http://schemas.openxmlformats.org/drawingml/2006/main">
              <a:ext uri="{FF2B5EF4-FFF2-40B4-BE49-F238E27FC236}">
                <a16:creationId xmlns:a16="http://schemas.microsoft.com/office/drawing/2014/main" id="{821801D2-1119-46C7-925F-10EB8EE71C03}"/>
              </a:ext>
            </a:extLst>
          </p:cNvPr>
          <p:cNvSpPr>
            <a:spLocks xmlns:a="http://schemas.openxmlformats.org/drawingml/2006/main" noGrp="1"/>
          </p:cNvSpPr>
          <p:nvPr/>
        </p:nvSpPr>
        <p:spPr>
          <a:xfrm xmlns:a="http://schemas.openxmlformats.org/drawingml/2006/main">
            <a:off x="685800" y="4924425"/>
            <a:ext cx="10820400" cy="9525"/>
          </a:xfrm>
          <a:prstGeom xmlns:a="http://schemas.openxmlformats.org/drawingml/2006/main" prst="rect">
            <a:avLst/>
          </a:prstGeom>
          <a:solidFill xmlns:a="http://schemas.openxmlformats.org/drawingml/2006/main">
            <a:srgbClr val="E4CCD3"/>
          </a:solidFill>
          <a:ln xmlns:a="http://schemas.openxmlformats.org/drawingml/2006/main" w="9525">
            <a:solidFill>
              <a:srgbClr val="E4CCD3"/>
            </a:solidFill>
          </a:ln>
        </p:spPr>
      </p:sp>
      <p:sp>
        <p:nvSpPr>
          <p:cNvPr id="15" name="">
            <a:extLst xmlns:a="http://schemas.openxmlformats.org/drawingml/2006/main">
              <a:ext uri="{FF2B5EF4-FFF2-40B4-BE49-F238E27FC236}">
                <a16:creationId xmlns:a16="http://schemas.microsoft.com/office/drawing/2014/main" id="{679390A4-AF39-44F3-AE32-C98A4D1BD4F3}"/>
              </a:ext>
            </a:extLst>
          </p:cNvPr>
          <p:cNvSpPr>
            <a:spLocks xmlns:a="http://schemas.openxmlformats.org/drawingml/2006/main" noGrp="1"/>
          </p:cNvSpPr>
          <p:nvPr/>
        </p:nvSpPr>
        <p:spPr>
          <a:xfrm xmlns:a="http://schemas.openxmlformats.org/drawingml/2006/main">
            <a:off x="685800" y="5238750"/>
            <a:ext cx="1000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424"/>
          </a:bodyPr>
          <a:lstStyle xmlns:a="http://schemas.openxmlformats.org/drawingml/2006/main"/>
          <a:p xmlns:a="http://schemas.openxmlformats.org/drawingml/2006/main">
            <a:pPr>
              <a:defRPr sz="1650" b="1">
                <a:solidFill>
                  <a:srgbClr val="35131F"/>
                </a:solidFill>
                <a:latin typeface="Arial"/>
                <a:ea typeface="Arial"/>
                <a:cs typeface="Arial"/>
              </a:defRPr>
            </a:pPr>
            <a:r>
              <a:rPr sz="1650" b="1">
                <a:solidFill>
                  <a:srgbClr val="35131F"/>
                </a:solidFill>
                <a:latin typeface="Arial"/>
                <a:ea typeface="Arial"/>
                <a:cs typeface="Arial"/>
              </a:rPr>
              <a:t>The sample contains 4 open alerts, 7 modeled systems, and 10 links.</a:t>
            </a:r>
          </a:p>
        </p:txBody>
      </p:sp>
      <p:sp>
        <p:nvSpPr>
          <p:cNvPr id="16" name="">
            <a:extLst xmlns:a="http://schemas.openxmlformats.org/drawingml/2006/main">
              <a:ext uri="{FF2B5EF4-FFF2-40B4-BE49-F238E27FC236}">
                <a16:creationId xmlns:a16="http://schemas.microsoft.com/office/drawing/2014/main" id="{DA987C33-2850-4F89-BAA6-B88BB85F7A5F}"/>
              </a:ext>
            </a:extLst>
          </p:cNvPr>
          <p:cNvSpPr>
            <a:spLocks xmlns:a="http://schemas.openxmlformats.org/drawingml/2006/main" noGrp="1"/>
          </p:cNvSpPr>
          <p:nvPr/>
        </p:nvSpPr>
        <p:spPr>
          <a:xfrm xmlns:a="http://schemas.openxmlformats.org/drawingml/2006/main">
            <a:off x="685800" y="565785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defRPr sz="1050" b="0">
                <a:solidFill>
                  <a:srgbClr val="826A73"/>
                </a:solidFill>
                <a:latin typeface="Arial"/>
                <a:ea typeface="Arial"/>
                <a:cs typeface="Arial"/>
              </a:defRPr>
            </a:pPr>
            <a:r>
              <a:rPr sz="1050" b="0">
                <a:solidFill>
                  <a:srgbClr val="826A73"/>
                </a:solidFill>
                <a:latin typeface="Arial"/>
                <a:ea typeface="Arial"/>
                <a:cs typeface="Arial"/>
              </a:rPr>
              <a:t>Fictional tabletop inputs. Counts are not incident statistics.</a:t>
            </a:r>
          </a:p>
        </p:txBody>
      </p:sp>
      <p:sp>
        <p:nvSpPr>
          <p:cNvPr id="17" name="">
            <a:extLst xmlns:a="http://schemas.openxmlformats.org/drawingml/2006/main">
              <a:ext uri="{FF2B5EF4-FFF2-40B4-BE49-F238E27FC236}">
                <a16:creationId xmlns:a16="http://schemas.microsoft.com/office/drawing/2014/main" id="{2288795C-D83F-4EAB-8BB4-412BCD3B217B}"/>
              </a:ext>
            </a:extLst>
          </p:cNvPr>
          <p:cNvSpPr>
            <a:spLocks xmlns:a="http://schemas.openxmlformats.org/drawingml/2006/main" noGrp="1"/>
          </p:cNvSpPr>
          <p:nvPr/>
        </p:nvSpPr>
        <p:spPr>
          <a:xfrm xmlns:a="http://schemas.openxmlformats.org/drawingml/2006/main">
            <a:off x="685800" y="6486525"/>
            <a:ext cx="838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222"/>
          </a:bodyPr>
          <a:lstStyle xmlns:a="http://schemas.openxmlformats.org/drawingml/2006/main"/>
          <a:p xmlns:a="http://schemas.openxmlformats.org/drawingml/2006/main">
            <a:pPr>
              <a:defRPr sz="900" b="1">
                <a:solidFill>
                  <a:srgbClr val="826A73"/>
                </a:solidFill>
                <a:latin typeface="Arial"/>
                <a:ea typeface="Arial"/>
                <a:cs typeface="Arial"/>
              </a:defRPr>
            </a:pPr>
            <a:r>
              <a:rPr sz="900" b="1">
                <a:solidFill>
                  <a:srgbClr val="826A73"/>
                </a:solidFill>
                <a:latin typeface="Arial"/>
                <a:ea typeface="Arial"/>
                <a:cs typeface="Arial"/>
              </a:rPr>
              <a:t>PROBLEM 92    CYBER INCIDENT RESPONSE PLANNER</a:t>
            </a:r>
          </a:p>
        </p:txBody>
      </p:sp>
      <p:sp>
        <p:nvSpPr>
          <p:cNvPr id="18" name="">
            <a:extLst xmlns:a="http://schemas.openxmlformats.org/drawingml/2006/main">
              <a:ext uri="{FF2B5EF4-FFF2-40B4-BE49-F238E27FC236}">
                <a16:creationId xmlns:a16="http://schemas.microsoft.com/office/drawing/2014/main" id="{8AEEAC87-B6D9-4661-A2C2-5B9EA0CFAFF0}"/>
              </a:ext>
            </a:extLst>
          </p:cNvPr>
          <p:cNvSpPr>
            <a:spLocks xmlns:a="http://schemas.openxmlformats.org/drawingml/2006/main" noGrp="1"/>
          </p:cNvSpPr>
          <p:nvPr/>
        </p:nvSpPr>
        <p:spPr>
          <a:xfrm xmlns:a="http://schemas.openxmlformats.org/drawingml/2006/main">
            <a:off x="10668000" y="6486525"/>
            <a:ext cx="838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222"/>
          </a:bodyPr>
          <a:lstStyle xmlns:a="http://schemas.openxmlformats.org/drawingml/2006/main"/>
          <a:p xmlns:a="http://schemas.openxmlformats.org/drawingml/2006/main">
            <a:pPr>
              <a:defRPr sz="900" b="1">
                <a:solidFill>
                  <a:srgbClr val="826A73"/>
                </a:solidFill>
                <a:latin typeface="Arial"/>
                <a:ea typeface="Arial"/>
                <a:cs typeface="Arial"/>
              </a:defRPr>
            </a:pPr>
            <a:r>
              <a:rPr sz="900" b="1">
                <a:solidFill>
                  <a:srgbClr val="826A73"/>
                </a:solidFill>
                <a:latin typeface="Arial"/>
                <a:ea typeface="Arial"/>
                <a:cs typeface="Arial"/>
              </a:rPr>
              <a:t>02 / 07</a:t>
            </a:r>
          </a:p>
        </p:txBody>
      </p:sp>
    </p:spTree>
    <p:extLst>
      <p:ext uri="{BB962C8B-B14F-4D97-AF65-F5344CB8AC3E}">
        <p14:creationId xmlns:p14="http://schemas.microsoft.com/office/powerpoint/2010/main" val="44154280"/>
      </p:ext>
    </p:extLst>
  </p:cSld>
</p:sld>
</file>

<file path=ppt/slides/slide3.xml><?xml version="1.0" encoding="utf-8"?>
<p:sld xmlns:p="http://schemas.openxmlformats.org/presentationml/2006/main">
  <p:cSld>
    <p:bg>
      <p:bgPr>
        <a:solidFill xmlns:a="http://schemas.openxmlformats.org/drawingml/2006/main">
          <a:srgbClr val="FCF8F9"/>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432FC0BD-4FDE-49A2-AE51-2A0AC227B1DF}"/>
              </a:ext>
            </a:extLst>
          </p:cNvPr>
          <p:cNvSpPr>
            <a:spLocks xmlns:a="http://schemas.openxmlformats.org/drawingml/2006/main" noGrp="1"/>
          </p:cNvSpPr>
          <p:nvPr/>
        </p:nvSpPr>
        <p:spPr>
          <a:xfrm xmlns:a="http://schemas.openxmlformats.org/drawingml/2006/main">
            <a:off x="685800" y="400050"/>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9487"/>
          </a:bodyPr>
          <a:lstStyle xmlns:a="http://schemas.openxmlformats.org/drawingml/2006/main"/>
          <a:p xmlns:a="http://schemas.openxmlformats.org/drawingml/2006/main">
            <a:pPr>
              <a:defRPr sz="975" b="1">
                <a:solidFill>
                  <a:srgbClr val="8F354F"/>
                </a:solidFill>
                <a:latin typeface="Arial"/>
                <a:ea typeface="Arial"/>
                <a:cs typeface="Arial"/>
              </a:defRPr>
            </a:pPr>
            <a:r>
              <a:rPr sz="975" b="1">
                <a:solidFill>
                  <a:srgbClr val="8F354F"/>
                </a:solidFill>
                <a:latin typeface="Arial"/>
                <a:ea typeface="Arial"/>
                <a:cs typeface="Arial"/>
              </a:rPr>
              <a:t>OUR INNOVATION</a:t>
            </a:r>
          </a:p>
        </p:txBody>
      </p:sp>
      <p:sp>
        <p:nvSpPr>
          <p:cNvPr id="2" name="">
            <a:extLst xmlns:a="http://schemas.openxmlformats.org/drawingml/2006/main">
              <a:ext uri="{FF2B5EF4-FFF2-40B4-BE49-F238E27FC236}">
                <a16:creationId xmlns:a16="http://schemas.microsoft.com/office/drawing/2014/main" id="{ABADC6F3-7F0B-42A9-92E6-335C98688624}"/>
              </a:ext>
            </a:extLst>
          </p:cNvPr>
          <p:cNvSpPr>
            <a:spLocks xmlns:a="http://schemas.openxmlformats.org/drawingml/2006/main" noGrp="1"/>
          </p:cNvSpPr>
          <p:nvPr/>
        </p:nvSpPr>
        <p:spPr>
          <a:xfrm xmlns:a="http://schemas.openxmlformats.org/drawingml/2006/main">
            <a:off x="685800" y="742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150" b="1">
                <a:solidFill>
                  <a:srgbClr val="35131F"/>
                </a:solidFill>
                <a:latin typeface="Arial"/>
                <a:ea typeface="Arial"/>
                <a:cs typeface="Arial"/>
              </a:defRPr>
            </a:pPr>
            <a:r>
              <a:rPr sz="3150" b="1">
                <a:solidFill>
                  <a:srgbClr val="35131F"/>
                </a:solidFill>
                <a:latin typeface="Arial"/>
                <a:ea typeface="Arial"/>
                <a:cs typeface="Arial"/>
              </a:rPr>
              <a:t>The model explains each choice.</a:t>
            </a:r>
          </a:p>
        </p:txBody>
      </p:sp>
      <p:sp>
        <p:nvSpPr>
          <p:cNvPr id="3" name="">
            <a:extLst xmlns:a="http://schemas.openxmlformats.org/drawingml/2006/main">
              <a:ext uri="{FF2B5EF4-FFF2-40B4-BE49-F238E27FC236}">
                <a16:creationId xmlns:a16="http://schemas.microsoft.com/office/drawing/2014/main" id="{F991E011-79D6-4D7D-9E26-5740571046AE}"/>
              </a:ext>
            </a:extLst>
          </p:cNvPr>
          <p:cNvSpPr>
            <a:spLocks xmlns:a="http://schemas.openxmlformats.org/drawingml/2006/main" noGrp="1"/>
          </p:cNvSpPr>
          <p:nvPr/>
        </p:nvSpPr>
        <p:spPr>
          <a:xfrm xmlns:a="http://schemas.openxmlformats.org/drawingml/2006/main">
            <a:off x="685800" y="1562100"/>
            <a:ext cx="10820400" cy="9525"/>
          </a:xfrm>
          <a:prstGeom xmlns:a="http://schemas.openxmlformats.org/drawingml/2006/main" prst="rect">
            <a:avLst/>
          </a:prstGeom>
          <a:solidFill xmlns:a="http://schemas.openxmlformats.org/drawingml/2006/main">
            <a:srgbClr val="E4CCD3"/>
          </a:solidFill>
          <a:ln xmlns:a="http://schemas.openxmlformats.org/drawingml/2006/main" w="9525">
            <a:solidFill>
              <a:srgbClr val="E4CCD3"/>
            </a:solidFill>
          </a:ln>
        </p:spPr>
      </p:sp>
      <p:sp>
        <p:nvSpPr>
          <p:cNvPr id="4" name="">
            <a:extLst xmlns:a="http://schemas.openxmlformats.org/drawingml/2006/main">
              <a:ext uri="{FF2B5EF4-FFF2-40B4-BE49-F238E27FC236}">
                <a16:creationId xmlns:a16="http://schemas.microsoft.com/office/drawing/2014/main" id="{611C71DA-05C6-4533-9511-1DCE0578387F}"/>
              </a:ext>
            </a:extLst>
          </p:cNvPr>
          <p:cNvSpPr>
            <a:spLocks xmlns:a="http://schemas.openxmlformats.org/drawingml/2006/main" noGrp="1"/>
          </p:cNvSpPr>
          <p:nvPr/>
        </p:nvSpPr>
        <p:spPr>
          <a:xfrm xmlns:a="http://schemas.openxmlformats.org/drawingml/2006/main">
            <a:off x="685800" y="1866900"/>
            <a:ext cx="1028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972"/>
          </a:bodyPr>
          <a:lstStyle xmlns:a="http://schemas.openxmlformats.org/drawingml/2006/main"/>
          <a:p xmlns:a="http://schemas.openxmlformats.org/drawingml/2006/main">
            <a:pPr>
              <a:defRPr sz="1800" b="0">
                <a:solidFill>
                  <a:srgbClr val="35131F"/>
                </a:solidFill>
                <a:latin typeface="Arial"/>
                <a:ea typeface="Arial"/>
                <a:cs typeface="Arial"/>
              </a:defRPr>
            </a:pPr>
            <a:r>
              <a:rPr sz="1800" b="0">
                <a:solidFill>
                  <a:srgbClr val="35131F"/>
                </a:solidFill>
                <a:latin typeface="Arial"/>
                <a:ea typeface="Arial"/>
                <a:cs typeface="Arial"/>
              </a:rPr>
              <a:t>The planner combines an explicit priority score with a system graph, then shows route options against the selected goal.</a:t>
            </a:r>
          </a:p>
        </p:txBody>
      </p:sp>
      <p:sp>
        <p:nvSpPr>
          <p:cNvPr id="5" name="">
            <a:extLst xmlns:a="http://schemas.openxmlformats.org/drawingml/2006/main">
              <a:ext uri="{FF2B5EF4-FFF2-40B4-BE49-F238E27FC236}">
                <a16:creationId xmlns:a16="http://schemas.microsoft.com/office/drawing/2014/main" id="{682854E1-FFD2-46A3-B7CE-BD354E7C847B}"/>
              </a:ext>
            </a:extLst>
          </p:cNvPr>
          <p:cNvSpPr>
            <a:spLocks xmlns:a="http://schemas.openxmlformats.org/drawingml/2006/main" noGrp="1"/>
          </p:cNvSpPr>
          <p:nvPr/>
        </p:nvSpPr>
        <p:spPr>
          <a:xfrm xmlns:a="http://schemas.openxmlformats.org/drawingml/2006/main">
            <a:off x="685800" y="2952750"/>
            <a:ext cx="38100" cy="1066800"/>
          </a:xfrm>
          <a:prstGeom xmlns:a="http://schemas.openxmlformats.org/drawingml/2006/main" prst="rect">
            <a:avLst/>
          </a:prstGeom>
          <a:solidFill xmlns:a="http://schemas.openxmlformats.org/drawingml/2006/main">
            <a:srgbClr val="8F354F"/>
          </a:solidFill>
          <a:ln xmlns:a="http://schemas.openxmlformats.org/drawingml/2006/main" w="9525">
            <a:solidFill>
              <a:srgbClr val="8F354F"/>
            </a:solidFill>
          </a:ln>
        </p:spPr>
      </p:sp>
      <p:sp>
        <p:nvSpPr>
          <p:cNvPr id="6" name="">
            <a:extLst xmlns:a="http://schemas.openxmlformats.org/drawingml/2006/main">
              <a:ext uri="{FF2B5EF4-FFF2-40B4-BE49-F238E27FC236}">
                <a16:creationId xmlns:a16="http://schemas.microsoft.com/office/drawing/2014/main" id="{39C32DDE-047D-40D0-8DD2-E16475F55974}"/>
              </a:ext>
            </a:extLst>
          </p:cNvPr>
          <p:cNvSpPr>
            <a:spLocks xmlns:a="http://schemas.openxmlformats.org/drawingml/2006/main" noGrp="1"/>
          </p:cNvSpPr>
          <p:nvPr/>
        </p:nvSpPr>
        <p:spPr>
          <a:xfrm xmlns:a="http://schemas.openxmlformats.org/drawingml/2006/main">
            <a:off x="895350" y="2990850"/>
            <a:ext cx="46291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077"/>
          </a:bodyPr>
          <a:lstStyle xmlns:a="http://schemas.openxmlformats.org/drawingml/2006/main"/>
          <a:p xmlns:a="http://schemas.openxmlformats.org/drawingml/2006/main">
            <a:pPr>
              <a:defRPr sz="975" b="1">
                <a:solidFill>
                  <a:srgbClr val="8F354F"/>
                </a:solidFill>
                <a:latin typeface="Arial"/>
                <a:ea typeface="Arial"/>
                <a:cs typeface="Arial"/>
              </a:defRPr>
            </a:pPr>
            <a:r>
              <a:rPr sz="975" b="1">
                <a:solidFill>
                  <a:srgbClr val="8F354F"/>
                </a:solidFill>
                <a:latin typeface="Arial"/>
                <a:ea typeface="Arial"/>
                <a:cs typeface="Arial"/>
              </a:rPr>
              <a:t>VISIBLE PRIORITY</a:t>
            </a:r>
          </a:p>
        </p:txBody>
      </p:sp>
      <p:sp>
        <p:nvSpPr>
          <p:cNvPr id="7" name="">
            <a:extLst xmlns:a="http://schemas.openxmlformats.org/drawingml/2006/main">
              <a:ext uri="{FF2B5EF4-FFF2-40B4-BE49-F238E27FC236}">
                <a16:creationId xmlns:a16="http://schemas.microsoft.com/office/drawing/2014/main" id="{A255B90E-0A11-4AD0-9FC0-44F7F4C15625}"/>
              </a:ext>
            </a:extLst>
          </p:cNvPr>
          <p:cNvSpPr>
            <a:spLocks xmlns:a="http://schemas.openxmlformats.org/drawingml/2006/main" noGrp="1"/>
          </p:cNvSpPr>
          <p:nvPr/>
        </p:nvSpPr>
        <p:spPr>
          <a:xfrm xmlns:a="http://schemas.openxmlformats.org/drawingml/2006/main">
            <a:off x="895350" y="3276600"/>
            <a:ext cx="45910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425" b="0">
                <a:solidFill>
                  <a:srgbClr val="35131F"/>
                </a:solidFill>
                <a:latin typeface="Arial"/>
                <a:ea typeface="Arial"/>
                <a:cs typeface="Arial"/>
              </a:defRPr>
            </a:pPr>
            <a:r>
              <a:rPr sz="1425" b="0">
                <a:solidFill>
                  <a:srgbClr val="35131F"/>
                </a:solidFill>
                <a:latin typeface="Arial"/>
                <a:ea typeface="Arial"/>
                <a:cs typeface="Arial"/>
              </a:rPr>
              <a:t>Severity, spread potential, system criticality, and evidence confidence contribute to the score.</a:t>
            </a:r>
          </a:p>
        </p:txBody>
      </p:sp>
      <p:sp>
        <p:nvSpPr>
          <p:cNvPr id="8" name="">
            <a:extLst xmlns:a="http://schemas.openxmlformats.org/drawingml/2006/main">
              <a:ext uri="{FF2B5EF4-FFF2-40B4-BE49-F238E27FC236}">
                <a16:creationId xmlns:a16="http://schemas.microsoft.com/office/drawing/2014/main" id="{97D882AA-DAA0-40BD-BF8B-0A691FF59324}"/>
              </a:ext>
            </a:extLst>
          </p:cNvPr>
          <p:cNvSpPr>
            <a:spLocks xmlns:a="http://schemas.openxmlformats.org/drawingml/2006/main" noGrp="1"/>
          </p:cNvSpPr>
          <p:nvPr/>
        </p:nvSpPr>
        <p:spPr>
          <a:xfrm xmlns:a="http://schemas.openxmlformats.org/drawingml/2006/main">
            <a:off x="6191250" y="2952750"/>
            <a:ext cx="38100" cy="1066800"/>
          </a:xfrm>
          <a:prstGeom xmlns:a="http://schemas.openxmlformats.org/drawingml/2006/main" prst="rect">
            <a:avLst/>
          </a:prstGeom>
          <a:solidFill xmlns:a="http://schemas.openxmlformats.org/drawingml/2006/main">
            <a:srgbClr val="9E6276"/>
          </a:solidFill>
          <a:ln xmlns:a="http://schemas.openxmlformats.org/drawingml/2006/main" w="9525">
            <a:solidFill>
              <a:srgbClr val="9E6276"/>
            </a:solidFill>
          </a:ln>
        </p:spPr>
      </p:sp>
      <p:sp>
        <p:nvSpPr>
          <p:cNvPr id="9" name="">
            <a:extLst xmlns:a="http://schemas.openxmlformats.org/drawingml/2006/main">
              <a:ext uri="{FF2B5EF4-FFF2-40B4-BE49-F238E27FC236}">
                <a16:creationId xmlns:a16="http://schemas.microsoft.com/office/drawing/2014/main" id="{72F15DB2-B1C1-4EF1-9A52-B40B1FDBAA3F}"/>
              </a:ext>
            </a:extLst>
          </p:cNvPr>
          <p:cNvSpPr>
            <a:spLocks xmlns:a="http://schemas.openxmlformats.org/drawingml/2006/main" noGrp="1"/>
          </p:cNvSpPr>
          <p:nvPr/>
        </p:nvSpPr>
        <p:spPr>
          <a:xfrm xmlns:a="http://schemas.openxmlformats.org/drawingml/2006/main">
            <a:off x="6400800" y="2990850"/>
            <a:ext cx="50863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077"/>
          </a:bodyPr>
          <a:lstStyle xmlns:a="http://schemas.openxmlformats.org/drawingml/2006/main"/>
          <a:p xmlns:a="http://schemas.openxmlformats.org/drawingml/2006/main">
            <a:pPr>
              <a:defRPr sz="975" b="1">
                <a:solidFill>
                  <a:srgbClr val="9E6276"/>
                </a:solidFill>
                <a:latin typeface="Arial"/>
                <a:ea typeface="Arial"/>
                <a:cs typeface="Arial"/>
              </a:defRPr>
            </a:pPr>
            <a:r>
              <a:rPr sz="975" b="1">
                <a:solidFill>
                  <a:srgbClr val="9E6276"/>
                </a:solidFill>
                <a:latin typeface="Arial"/>
                <a:ea typeface="Arial"/>
                <a:cs typeface="Arial"/>
              </a:rPr>
              <a:t>MODELED REACHABILITY</a:t>
            </a:r>
          </a:p>
        </p:txBody>
      </p:sp>
      <p:sp>
        <p:nvSpPr>
          <p:cNvPr id="10" name="">
            <a:extLst xmlns:a="http://schemas.openxmlformats.org/drawingml/2006/main">
              <a:ext uri="{FF2B5EF4-FFF2-40B4-BE49-F238E27FC236}">
                <a16:creationId xmlns:a16="http://schemas.microsoft.com/office/drawing/2014/main" id="{5F2CA416-B304-40EF-A73B-7BB278AB31E1}"/>
              </a:ext>
            </a:extLst>
          </p:cNvPr>
          <p:cNvSpPr>
            <a:spLocks xmlns:a="http://schemas.openxmlformats.org/drawingml/2006/main" noGrp="1"/>
          </p:cNvSpPr>
          <p:nvPr/>
        </p:nvSpPr>
        <p:spPr>
          <a:xfrm xmlns:a="http://schemas.openxmlformats.org/drawingml/2006/main">
            <a:off x="6400800" y="3276600"/>
            <a:ext cx="5048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076"/>
          </a:bodyPr>
          <a:lstStyle xmlns:a="http://schemas.openxmlformats.org/drawingml/2006/main"/>
          <a:p xmlns:a="http://schemas.openxmlformats.org/drawingml/2006/main">
            <a:pPr>
              <a:defRPr sz="1425" b="0">
                <a:solidFill>
                  <a:srgbClr val="35131F"/>
                </a:solidFill>
                <a:latin typeface="Arial"/>
                <a:ea typeface="Arial"/>
                <a:cs typeface="Arial"/>
              </a:defRPr>
            </a:pPr>
            <a:r>
              <a:rPr sz="1425" b="0">
                <a:solidFill>
                  <a:srgbClr val="35131F"/>
                </a:solidFill>
                <a:latin typeface="Arial"/>
                <a:ea typeface="Arial"/>
                <a:cs typeface="Arial"/>
              </a:rPr>
              <a:t>Breadth-first search shows which linked systems are reachable by hop count. Reachability does not confirm compromise.</a:t>
            </a:r>
          </a:p>
        </p:txBody>
      </p:sp>
      <p:sp>
        <p:nvSpPr>
          <p:cNvPr id="11" name="">
            <a:extLst xmlns:a="http://schemas.openxmlformats.org/drawingml/2006/main">
              <a:ext uri="{FF2B5EF4-FFF2-40B4-BE49-F238E27FC236}">
                <a16:creationId xmlns:a16="http://schemas.microsoft.com/office/drawing/2014/main" id="{DF484AF4-853C-4F16-823D-254723A51F3A}"/>
              </a:ext>
            </a:extLst>
          </p:cNvPr>
          <p:cNvSpPr>
            <a:spLocks xmlns:a="http://schemas.openxmlformats.org/drawingml/2006/main" noGrp="1"/>
          </p:cNvSpPr>
          <p:nvPr/>
        </p:nvSpPr>
        <p:spPr>
          <a:xfrm xmlns:a="http://schemas.openxmlformats.org/drawingml/2006/main">
            <a:off x="685800" y="4591050"/>
            <a:ext cx="38100" cy="1066800"/>
          </a:xfrm>
          <a:prstGeom xmlns:a="http://schemas.openxmlformats.org/drawingml/2006/main" prst="rect">
            <a:avLst/>
          </a:prstGeom>
          <a:solidFill xmlns:a="http://schemas.openxmlformats.org/drawingml/2006/main">
            <a:srgbClr val="9E6276"/>
          </a:solidFill>
          <a:ln xmlns:a="http://schemas.openxmlformats.org/drawingml/2006/main" w="9525">
            <a:solidFill>
              <a:srgbClr val="9E6276"/>
            </a:solidFill>
          </a:ln>
        </p:spPr>
      </p:sp>
      <p:sp>
        <p:nvSpPr>
          <p:cNvPr id="12" name="">
            <a:extLst xmlns:a="http://schemas.openxmlformats.org/drawingml/2006/main">
              <a:ext uri="{FF2B5EF4-FFF2-40B4-BE49-F238E27FC236}">
                <a16:creationId xmlns:a16="http://schemas.microsoft.com/office/drawing/2014/main" id="{AEF3C84C-9687-4A72-975C-B585C4D682E7}"/>
              </a:ext>
            </a:extLst>
          </p:cNvPr>
          <p:cNvSpPr>
            <a:spLocks xmlns:a="http://schemas.openxmlformats.org/drawingml/2006/main" noGrp="1"/>
          </p:cNvSpPr>
          <p:nvPr/>
        </p:nvSpPr>
        <p:spPr>
          <a:xfrm xmlns:a="http://schemas.openxmlformats.org/drawingml/2006/main">
            <a:off x="895350" y="4629150"/>
            <a:ext cx="46291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077"/>
          </a:bodyPr>
          <a:lstStyle xmlns:a="http://schemas.openxmlformats.org/drawingml/2006/main"/>
          <a:p xmlns:a="http://schemas.openxmlformats.org/drawingml/2006/main">
            <a:pPr>
              <a:defRPr sz="975" b="1">
                <a:solidFill>
                  <a:srgbClr val="9E6276"/>
                </a:solidFill>
                <a:latin typeface="Arial"/>
                <a:ea typeface="Arial"/>
                <a:cs typeface="Arial"/>
              </a:defRPr>
            </a:pPr>
            <a:r>
              <a:rPr sz="975" b="1">
                <a:solidFill>
                  <a:srgbClr val="9E6276"/>
                </a:solidFill>
                <a:latin typeface="Arial"/>
                <a:ea typeface="Arial"/>
                <a:cs typeface="Arial"/>
              </a:rPr>
              <a:t>TWO ROUTE GOALS</a:t>
            </a:r>
          </a:p>
        </p:txBody>
      </p:sp>
      <p:sp>
        <p:nvSpPr>
          <p:cNvPr id="13" name="">
            <a:extLst xmlns:a="http://schemas.openxmlformats.org/drawingml/2006/main">
              <a:ext uri="{FF2B5EF4-FFF2-40B4-BE49-F238E27FC236}">
                <a16:creationId xmlns:a16="http://schemas.microsoft.com/office/drawing/2014/main" id="{E4A8A2FC-8C26-40A1-920E-7E211C93228E}"/>
              </a:ext>
            </a:extLst>
          </p:cNvPr>
          <p:cNvSpPr>
            <a:spLocks xmlns:a="http://schemas.openxmlformats.org/drawingml/2006/main" noGrp="1"/>
          </p:cNvSpPr>
          <p:nvPr/>
        </p:nvSpPr>
        <p:spPr>
          <a:xfrm xmlns:a="http://schemas.openxmlformats.org/drawingml/2006/main">
            <a:off x="895350" y="4914900"/>
            <a:ext cx="45910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425" b="0">
                <a:solidFill>
                  <a:srgbClr val="35131F"/>
                </a:solidFill>
                <a:latin typeface="Arial"/>
                <a:ea typeface="Arial"/>
                <a:cs typeface="Arial"/>
              </a:defRPr>
            </a:pPr>
            <a:r>
              <a:rPr sz="1425" b="0">
                <a:solidFill>
                  <a:srgbClr val="35131F"/>
                </a:solidFill>
                <a:latin typeface="Arial"/>
                <a:ea typeface="Arial"/>
                <a:cs typeface="Arial"/>
              </a:rPr>
              <a:t>Compare fewest links with lowest positive entered effort, using BFS and Dijkstra.</a:t>
            </a:r>
          </a:p>
        </p:txBody>
      </p:sp>
      <p:sp>
        <p:nvSpPr>
          <p:cNvPr id="14" name="">
            <a:extLst xmlns:a="http://schemas.openxmlformats.org/drawingml/2006/main">
              <a:ext uri="{FF2B5EF4-FFF2-40B4-BE49-F238E27FC236}">
                <a16:creationId xmlns:a16="http://schemas.microsoft.com/office/drawing/2014/main" id="{B0895A29-D4D2-4682-8596-D26D08DEADE2}"/>
              </a:ext>
            </a:extLst>
          </p:cNvPr>
          <p:cNvSpPr>
            <a:spLocks xmlns:a="http://schemas.openxmlformats.org/drawingml/2006/main" noGrp="1"/>
          </p:cNvSpPr>
          <p:nvPr/>
        </p:nvSpPr>
        <p:spPr>
          <a:xfrm xmlns:a="http://schemas.openxmlformats.org/drawingml/2006/main">
            <a:off x="6191250" y="4591050"/>
            <a:ext cx="38100" cy="1066800"/>
          </a:xfrm>
          <a:prstGeom xmlns:a="http://schemas.openxmlformats.org/drawingml/2006/main" prst="rect">
            <a:avLst/>
          </a:prstGeom>
          <a:solidFill xmlns:a="http://schemas.openxmlformats.org/drawingml/2006/main">
            <a:srgbClr val="8F354F"/>
          </a:solidFill>
          <a:ln xmlns:a="http://schemas.openxmlformats.org/drawingml/2006/main" w="9525">
            <a:solidFill>
              <a:srgbClr val="8F354F"/>
            </a:solidFill>
          </a:ln>
        </p:spPr>
      </p:sp>
      <p:sp>
        <p:nvSpPr>
          <p:cNvPr id="15" name="">
            <a:extLst xmlns:a="http://schemas.openxmlformats.org/drawingml/2006/main">
              <a:ext uri="{FF2B5EF4-FFF2-40B4-BE49-F238E27FC236}">
                <a16:creationId xmlns:a16="http://schemas.microsoft.com/office/drawing/2014/main" id="{7BD6BC8D-D229-45FA-9062-D2BED5ACF3FF}"/>
              </a:ext>
            </a:extLst>
          </p:cNvPr>
          <p:cNvSpPr>
            <a:spLocks xmlns:a="http://schemas.openxmlformats.org/drawingml/2006/main" noGrp="1"/>
          </p:cNvSpPr>
          <p:nvPr/>
        </p:nvSpPr>
        <p:spPr>
          <a:xfrm xmlns:a="http://schemas.openxmlformats.org/drawingml/2006/main">
            <a:off x="6400800" y="4629150"/>
            <a:ext cx="50863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077"/>
          </a:bodyPr>
          <a:lstStyle xmlns:a="http://schemas.openxmlformats.org/drawingml/2006/main"/>
          <a:p xmlns:a="http://schemas.openxmlformats.org/drawingml/2006/main">
            <a:pPr>
              <a:defRPr sz="975" b="1">
                <a:solidFill>
                  <a:srgbClr val="8F354F"/>
                </a:solidFill>
                <a:latin typeface="Arial"/>
                <a:ea typeface="Arial"/>
                <a:cs typeface="Arial"/>
              </a:defRPr>
            </a:pPr>
            <a:r>
              <a:rPr sz="975" b="1">
                <a:solidFill>
                  <a:srgbClr val="8F354F"/>
                </a:solidFill>
                <a:latin typeface="Arial"/>
                <a:ea typeface="Arial"/>
                <a:cs typeface="Arial"/>
              </a:rPr>
              <a:t>EDITABLE TABLETOP</a:t>
            </a:r>
          </a:p>
        </p:txBody>
      </p:sp>
      <p:sp>
        <p:nvSpPr>
          <p:cNvPr id="16" name="">
            <a:extLst xmlns:a="http://schemas.openxmlformats.org/drawingml/2006/main">
              <a:ext uri="{FF2B5EF4-FFF2-40B4-BE49-F238E27FC236}">
                <a16:creationId xmlns:a16="http://schemas.microsoft.com/office/drawing/2014/main" id="{9EA11E6F-D7CB-4C21-8D75-36508BC8A955}"/>
              </a:ext>
            </a:extLst>
          </p:cNvPr>
          <p:cNvSpPr>
            <a:spLocks xmlns:a="http://schemas.openxmlformats.org/drawingml/2006/main" noGrp="1"/>
          </p:cNvSpPr>
          <p:nvPr/>
        </p:nvSpPr>
        <p:spPr>
          <a:xfrm xmlns:a="http://schemas.openxmlformats.org/drawingml/2006/main">
            <a:off x="6400800" y="4914900"/>
            <a:ext cx="5048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425" b="0">
                <a:solidFill>
                  <a:srgbClr val="35131F"/>
                </a:solidFill>
                <a:latin typeface="Arial"/>
                <a:ea typeface="Arial"/>
                <a:cs typeface="Arial"/>
              </a:defRPr>
            </a:pPr>
            <a:r>
              <a:rPr sz="1425" b="0">
                <a:solidFill>
                  <a:srgbClr val="35131F"/>
                </a:solidFill>
                <a:latin typeface="Arial"/>
                <a:ea typeface="Arial"/>
                <a:cs typeface="Arial"/>
              </a:rPr>
              <a:t>Change fictional incidents or links, recalculate, and inspect how the plan changes.</a:t>
            </a:r>
          </a:p>
        </p:txBody>
      </p:sp>
      <p:sp>
        <p:nvSpPr>
          <p:cNvPr id="17" name="">
            <a:extLst xmlns:a="http://schemas.openxmlformats.org/drawingml/2006/main">
              <a:ext uri="{FF2B5EF4-FFF2-40B4-BE49-F238E27FC236}">
                <a16:creationId xmlns:a16="http://schemas.microsoft.com/office/drawing/2014/main" id="{8631C470-CA52-482F-AB51-BF4DA0A75D2C}"/>
              </a:ext>
            </a:extLst>
          </p:cNvPr>
          <p:cNvSpPr>
            <a:spLocks xmlns:a="http://schemas.openxmlformats.org/drawingml/2006/main" noGrp="1"/>
          </p:cNvSpPr>
          <p:nvPr/>
        </p:nvSpPr>
        <p:spPr>
          <a:xfrm xmlns:a="http://schemas.openxmlformats.org/drawingml/2006/main">
            <a:off x="685800" y="59436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833"/>
          </a:bodyPr>
          <a:lstStyle xmlns:a="http://schemas.openxmlformats.org/drawingml/2006/main"/>
          <a:p xmlns:a="http://schemas.openxmlformats.org/drawingml/2006/main">
            <a:pPr>
              <a:defRPr sz="1200" b="1">
                <a:solidFill>
                  <a:srgbClr val="826A73"/>
                </a:solidFill>
                <a:latin typeface="Arial"/>
                <a:ea typeface="Arial"/>
                <a:cs typeface="Arial"/>
              </a:defRPr>
            </a:pPr>
            <a:r>
              <a:rPr sz="1200" b="1">
                <a:solidFill>
                  <a:srgbClr val="826A73"/>
                </a:solidFill>
                <a:latin typeface="Arial"/>
                <a:ea typeface="Arial"/>
                <a:cs typeface="Arial"/>
              </a:rPr>
              <a:t>Unique approach: algorithms are part of the user workflow, and their assumptions stay visible.</a:t>
            </a:r>
          </a:p>
        </p:txBody>
      </p:sp>
      <p:sp>
        <p:nvSpPr>
          <p:cNvPr id="18" name="">
            <a:extLst xmlns:a="http://schemas.openxmlformats.org/drawingml/2006/main">
              <a:ext uri="{FF2B5EF4-FFF2-40B4-BE49-F238E27FC236}">
                <a16:creationId xmlns:a16="http://schemas.microsoft.com/office/drawing/2014/main" id="{4AFBD0E0-9EAE-4F53-A757-145D37EAC286}"/>
              </a:ext>
            </a:extLst>
          </p:cNvPr>
          <p:cNvSpPr>
            <a:spLocks xmlns:a="http://schemas.openxmlformats.org/drawingml/2006/main" noGrp="1"/>
          </p:cNvSpPr>
          <p:nvPr/>
        </p:nvSpPr>
        <p:spPr>
          <a:xfrm xmlns:a="http://schemas.openxmlformats.org/drawingml/2006/main">
            <a:off x="685800" y="6486525"/>
            <a:ext cx="838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222"/>
          </a:bodyPr>
          <a:lstStyle xmlns:a="http://schemas.openxmlformats.org/drawingml/2006/main"/>
          <a:p xmlns:a="http://schemas.openxmlformats.org/drawingml/2006/main">
            <a:pPr>
              <a:defRPr sz="900" b="1">
                <a:solidFill>
                  <a:srgbClr val="826A73"/>
                </a:solidFill>
                <a:latin typeface="Arial"/>
                <a:ea typeface="Arial"/>
                <a:cs typeface="Arial"/>
              </a:defRPr>
            </a:pPr>
            <a:r>
              <a:rPr sz="900" b="1">
                <a:solidFill>
                  <a:srgbClr val="826A73"/>
                </a:solidFill>
                <a:latin typeface="Arial"/>
                <a:ea typeface="Arial"/>
                <a:cs typeface="Arial"/>
              </a:rPr>
              <a:t>PROBLEM 92    CYBER INCIDENT RESPONSE PLANNER</a:t>
            </a:r>
          </a:p>
        </p:txBody>
      </p:sp>
      <p:sp>
        <p:nvSpPr>
          <p:cNvPr id="19" name="">
            <a:extLst xmlns:a="http://schemas.openxmlformats.org/drawingml/2006/main">
              <a:ext uri="{FF2B5EF4-FFF2-40B4-BE49-F238E27FC236}">
                <a16:creationId xmlns:a16="http://schemas.microsoft.com/office/drawing/2014/main" id="{409CA664-52FF-495C-9226-E6F8828D3FEA}"/>
              </a:ext>
            </a:extLst>
          </p:cNvPr>
          <p:cNvSpPr>
            <a:spLocks xmlns:a="http://schemas.openxmlformats.org/drawingml/2006/main" noGrp="1"/>
          </p:cNvSpPr>
          <p:nvPr/>
        </p:nvSpPr>
        <p:spPr>
          <a:xfrm xmlns:a="http://schemas.openxmlformats.org/drawingml/2006/main">
            <a:off x="10668000" y="6486525"/>
            <a:ext cx="838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222"/>
          </a:bodyPr>
          <a:lstStyle xmlns:a="http://schemas.openxmlformats.org/drawingml/2006/main"/>
          <a:p xmlns:a="http://schemas.openxmlformats.org/drawingml/2006/main">
            <a:pPr>
              <a:defRPr sz="900" b="1">
                <a:solidFill>
                  <a:srgbClr val="826A73"/>
                </a:solidFill>
                <a:latin typeface="Arial"/>
                <a:ea typeface="Arial"/>
                <a:cs typeface="Arial"/>
              </a:defRPr>
            </a:pPr>
            <a:r>
              <a:rPr sz="900" b="1">
                <a:solidFill>
                  <a:srgbClr val="826A73"/>
                </a:solidFill>
                <a:latin typeface="Arial"/>
                <a:ea typeface="Arial"/>
                <a:cs typeface="Arial"/>
              </a:rPr>
              <a:t>03 / 07</a:t>
            </a:r>
          </a:p>
        </p:txBody>
      </p:sp>
    </p:spTree>
    <p:extLst>
      <p:ext uri="{BB962C8B-B14F-4D97-AF65-F5344CB8AC3E}">
        <p14:creationId xmlns:p14="http://schemas.microsoft.com/office/powerpoint/2010/main" val="318412368"/>
      </p:ext>
    </p:extLst>
  </p:cSld>
</p:sld>
</file>

<file path=ppt/slides/slide4.xml><?xml version="1.0" encoding="utf-8"?>
<p:sld xmlns:p="http://schemas.openxmlformats.org/presentationml/2006/main">
  <p:cSld>
    <p:bg>
      <p:bgPr>
        <a:solidFill xmlns:a="http://schemas.openxmlformats.org/drawingml/2006/main">
          <a:srgbClr val="F7EEF1"/>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B762621A-46B3-4D26-9B6B-756B14284530}"/>
              </a:ext>
            </a:extLst>
          </p:cNvPr>
          <p:cNvSpPr>
            <a:spLocks xmlns:a="http://schemas.openxmlformats.org/drawingml/2006/main" noGrp="1"/>
          </p:cNvSpPr>
          <p:nvPr/>
        </p:nvSpPr>
        <p:spPr>
          <a:xfrm xmlns:a="http://schemas.openxmlformats.org/drawingml/2006/main">
            <a:off x="685800" y="400050"/>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9487"/>
          </a:bodyPr>
          <a:lstStyle xmlns:a="http://schemas.openxmlformats.org/drawingml/2006/main"/>
          <a:p xmlns:a="http://schemas.openxmlformats.org/drawingml/2006/main">
            <a:pPr>
              <a:defRPr sz="975" b="1">
                <a:solidFill>
                  <a:srgbClr val="8F354F"/>
                </a:solidFill>
                <a:latin typeface="Arial"/>
                <a:ea typeface="Arial"/>
                <a:cs typeface="Arial"/>
              </a:defRPr>
            </a:pPr>
            <a:r>
              <a:rPr sz="975" b="1">
                <a:solidFill>
                  <a:srgbClr val="8F354F"/>
                </a:solidFill>
                <a:latin typeface="Arial"/>
                <a:ea typeface="Arial"/>
                <a:cs typeface="Arial"/>
              </a:rPr>
              <a:t>HOW IT WORKS</a:t>
            </a:r>
          </a:p>
        </p:txBody>
      </p:sp>
      <p:sp>
        <p:nvSpPr>
          <p:cNvPr id="2" name="">
            <a:extLst xmlns:a="http://schemas.openxmlformats.org/drawingml/2006/main">
              <a:ext uri="{FF2B5EF4-FFF2-40B4-BE49-F238E27FC236}">
                <a16:creationId xmlns:a16="http://schemas.microsoft.com/office/drawing/2014/main" id="{D3164BE6-E439-49D1-8794-9ECE8E0B2073}"/>
              </a:ext>
            </a:extLst>
          </p:cNvPr>
          <p:cNvSpPr>
            <a:spLocks xmlns:a="http://schemas.openxmlformats.org/drawingml/2006/main" noGrp="1"/>
          </p:cNvSpPr>
          <p:nvPr/>
        </p:nvSpPr>
        <p:spPr>
          <a:xfrm xmlns:a="http://schemas.openxmlformats.org/drawingml/2006/main">
            <a:off x="685800" y="742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150" b="1">
                <a:solidFill>
                  <a:srgbClr val="35131F"/>
                </a:solidFill>
                <a:latin typeface="Arial"/>
                <a:ea typeface="Arial"/>
                <a:cs typeface="Arial"/>
              </a:defRPr>
            </a:pPr>
            <a:r>
              <a:rPr sz="3150" b="1">
                <a:solidFill>
                  <a:srgbClr val="35131F"/>
                </a:solidFill>
                <a:latin typeface="Arial"/>
                <a:ea typeface="Arial"/>
                <a:cs typeface="Arial"/>
              </a:rPr>
              <a:t>Inputs become a plan responders can inspect.</a:t>
            </a:r>
          </a:p>
        </p:txBody>
      </p:sp>
      <p:sp>
        <p:nvSpPr>
          <p:cNvPr id="3" name="">
            <a:extLst xmlns:a="http://schemas.openxmlformats.org/drawingml/2006/main">
              <a:ext uri="{FF2B5EF4-FFF2-40B4-BE49-F238E27FC236}">
                <a16:creationId xmlns:a16="http://schemas.microsoft.com/office/drawing/2014/main" id="{2B1DB869-00C9-41CA-B70B-FF8B3A4A9932}"/>
              </a:ext>
            </a:extLst>
          </p:cNvPr>
          <p:cNvSpPr>
            <a:spLocks xmlns:a="http://schemas.openxmlformats.org/drawingml/2006/main" noGrp="1"/>
          </p:cNvSpPr>
          <p:nvPr/>
        </p:nvSpPr>
        <p:spPr>
          <a:xfrm xmlns:a="http://schemas.openxmlformats.org/drawingml/2006/main">
            <a:off x="685800" y="1562100"/>
            <a:ext cx="10820400" cy="9525"/>
          </a:xfrm>
          <a:prstGeom xmlns:a="http://schemas.openxmlformats.org/drawingml/2006/main" prst="rect">
            <a:avLst/>
          </a:prstGeom>
          <a:solidFill xmlns:a="http://schemas.openxmlformats.org/drawingml/2006/main">
            <a:srgbClr val="E4CCD3"/>
          </a:solidFill>
          <a:ln xmlns:a="http://schemas.openxmlformats.org/drawingml/2006/main" w="9525">
            <a:solidFill>
              <a:srgbClr val="E4CCD3"/>
            </a:solidFill>
          </a:ln>
        </p:spPr>
      </p:sp>
      <p:sp>
        <p:nvSpPr>
          <p:cNvPr id="4" name="">
            <a:extLst xmlns:a="http://schemas.openxmlformats.org/drawingml/2006/main">
              <a:ext uri="{FF2B5EF4-FFF2-40B4-BE49-F238E27FC236}">
                <a16:creationId xmlns:a16="http://schemas.microsoft.com/office/drawing/2014/main" id="{1B4C2F95-FD68-410D-9A47-13608553AF31}"/>
              </a:ext>
            </a:extLst>
          </p:cNvPr>
          <p:cNvSpPr>
            <a:spLocks xmlns:a="http://schemas.openxmlformats.org/drawingml/2006/main" noGrp="1"/>
          </p:cNvSpPr>
          <p:nvPr/>
        </p:nvSpPr>
        <p:spPr>
          <a:xfrm xmlns:a="http://schemas.openxmlformats.org/drawingml/2006/main">
            <a:off x="685800" y="18859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125" b="1">
                <a:solidFill>
                  <a:srgbClr val="8F354F"/>
                </a:solidFill>
                <a:latin typeface="Arial"/>
                <a:ea typeface="Arial"/>
                <a:cs typeface="Arial"/>
              </a:defRPr>
            </a:pPr>
            <a:r>
              <a:rPr sz="1125" b="1">
                <a:solidFill>
                  <a:srgbClr val="8F354F"/>
                </a:solidFill>
                <a:latin typeface="Arial"/>
                <a:ea typeface="Arial"/>
                <a:cs typeface="Arial"/>
              </a:rPr>
              <a:t>INPUT  →  PROCESSING  →  ALGORITHM  →  OUTPUT</a:t>
            </a:r>
          </a:p>
        </p:txBody>
      </p:sp>
      <p:sp>
        <p:nvSpPr>
          <p:cNvPr id="5" name="">
            <a:extLst xmlns:a="http://schemas.openxmlformats.org/drawingml/2006/main">
              <a:ext uri="{FF2B5EF4-FFF2-40B4-BE49-F238E27FC236}">
                <a16:creationId xmlns:a16="http://schemas.microsoft.com/office/drawing/2014/main" id="{B10505FE-F166-4EEB-B23D-6A64A123786F}"/>
              </a:ext>
            </a:extLst>
          </p:cNvPr>
          <p:cNvSpPr>
            <a:spLocks xmlns:a="http://schemas.openxmlformats.org/drawingml/2006/main" noGrp="1"/>
          </p:cNvSpPr>
          <p:nvPr/>
        </p:nvSpPr>
        <p:spPr>
          <a:xfrm xmlns:a="http://schemas.openxmlformats.org/drawingml/2006/main">
            <a:off x="685800" y="2495550"/>
            <a:ext cx="2247900" cy="2095500"/>
          </a:xfrm>
          <a:prstGeom xmlns:a="http://schemas.openxmlformats.org/drawingml/2006/main" prst="roundRect">
            <a:avLst>
              <a:gd name="adj" fmla="val 3636"/>
            </a:avLst>
          </a:prstGeom>
          <a:solidFill xmlns:a="http://schemas.openxmlformats.org/drawingml/2006/main">
            <a:srgbClr val="FCF8F9"/>
          </a:solidFill>
          <a:ln xmlns:a="http://schemas.openxmlformats.org/drawingml/2006/main" w="9525">
            <a:solidFill>
              <a:srgbClr val="E4CCD3"/>
            </a:solidFill>
          </a:ln>
        </p:spPr>
      </p:sp>
      <p:sp>
        <p:nvSpPr>
          <p:cNvPr id="6" name="">
            <a:extLst xmlns:a="http://schemas.openxmlformats.org/drawingml/2006/main">
              <a:ext uri="{FF2B5EF4-FFF2-40B4-BE49-F238E27FC236}">
                <a16:creationId xmlns:a16="http://schemas.microsoft.com/office/drawing/2014/main" id="{926A8831-274F-444D-8CB4-6F0037D65545}"/>
              </a:ext>
            </a:extLst>
          </p:cNvPr>
          <p:cNvSpPr>
            <a:spLocks xmlns:a="http://schemas.openxmlformats.org/drawingml/2006/main" noGrp="1"/>
          </p:cNvSpPr>
          <p:nvPr/>
        </p:nvSpPr>
        <p:spPr>
          <a:xfrm xmlns:a="http://schemas.openxmlformats.org/drawingml/2006/main">
            <a:off x="685800" y="2495550"/>
            <a:ext cx="2247900" cy="47625"/>
          </a:xfrm>
          <a:prstGeom xmlns:a="http://schemas.openxmlformats.org/drawingml/2006/main" prst="rect">
            <a:avLst/>
          </a:prstGeom>
          <a:solidFill xmlns:a="http://schemas.openxmlformats.org/drawingml/2006/main">
            <a:srgbClr val="8F354F"/>
          </a:solidFill>
          <a:ln xmlns:a="http://schemas.openxmlformats.org/drawingml/2006/main" w="9525">
            <a:solidFill>
              <a:srgbClr val="8F354F"/>
            </a:solidFill>
          </a:ln>
        </p:spPr>
      </p:sp>
      <p:sp>
        <p:nvSpPr>
          <p:cNvPr id="7" name="">
            <a:extLst xmlns:a="http://schemas.openxmlformats.org/drawingml/2006/main">
              <a:ext uri="{FF2B5EF4-FFF2-40B4-BE49-F238E27FC236}">
                <a16:creationId xmlns:a16="http://schemas.microsoft.com/office/drawing/2014/main" id="{20126B3D-605B-4C53-B1FD-3D50758611D1}"/>
              </a:ext>
            </a:extLst>
          </p:cNvPr>
          <p:cNvSpPr>
            <a:spLocks xmlns:a="http://schemas.openxmlformats.org/drawingml/2006/main" noGrp="1"/>
          </p:cNvSpPr>
          <p:nvPr/>
        </p:nvSpPr>
        <p:spPr>
          <a:xfrm xmlns:a="http://schemas.openxmlformats.org/drawingml/2006/main">
            <a:off x="876300" y="2724150"/>
            <a:ext cx="1866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652"/>
          </a:bodyPr>
          <a:lstStyle xmlns:a="http://schemas.openxmlformats.org/drawingml/2006/main"/>
          <a:p xmlns:a="http://schemas.openxmlformats.org/drawingml/2006/main">
            <a:pPr>
              <a:defRPr sz="1725" b="1">
                <a:solidFill>
                  <a:srgbClr val="8F354F"/>
                </a:solidFill>
                <a:latin typeface="Arial"/>
                <a:ea typeface="Arial"/>
                <a:cs typeface="Arial"/>
              </a:defRPr>
            </a:pPr>
            <a:r>
              <a:rPr sz="1725" b="1">
                <a:solidFill>
                  <a:srgbClr val="8F354F"/>
                </a:solidFill>
                <a:latin typeface="Arial"/>
                <a:ea typeface="Arial"/>
                <a:cs typeface="Arial"/>
              </a:rPr>
              <a:t>Input</a:t>
            </a:r>
          </a:p>
        </p:txBody>
      </p:sp>
      <p:sp>
        <p:nvSpPr>
          <p:cNvPr id="8" name="">
            <a:extLst xmlns:a="http://schemas.openxmlformats.org/drawingml/2006/main">
              <a:ext uri="{FF2B5EF4-FFF2-40B4-BE49-F238E27FC236}">
                <a16:creationId xmlns:a16="http://schemas.microsoft.com/office/drawing/2014/main" id="{B59E358E-74C1-4FBE-8BDD-9DEE254FF3BA}"/>
              </a:ext>
            </a:extLst>
          </p:cNvPr>
          <p:cNvSpPr>
            <a:spLocks xmlns:a="http://schemas.openxmlformats.org/drawingml/2006/main" noGrp="1"/>
          </p:cNvSpPr>
          <p:nvPr/>
        </p:nvSpPr>
        <p:spPr>
          <a:xfrm xmlns:a="http://schemas.openxmlformats.org/drawingml/2006/main">
            <a:off x="876300" y="3257550"/>
            <a:ext cx="18669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35131F"/>
                </a:solidFill>
                <a:latin typeface="Arial"/>
                <a:ea typeface="Arial"/>
                <a:cs typeface="Arial"/>
              </a:defRPr>
            </a:pPr>
            <a:r>
              <a:rPr sz="1350" b="0">
                <a:solidFill>
                  <a:srgbClr val="35131F"/>
                </a:solidFill>
                <a:latin typeface="Arial"/>
                <a:ea typeface="Arial"/>
                <a:cs typeface="Arial"/>
              </a:rPr>
              <a:t>Incident signals</a:t>
            </a:r>
          </a:p>
          <a:p xmlns:a="http://schemas.openxmlformats.org/drawingml/2006/main">
            <a:pPr>
              <a:defRPr sz="1350" b="0">
                <a:solidFill>
                  <a:srgbClr val="35131F"/>
                </a:solidFill>
                <a:latin typeface="Arial"/>
                <a:ea typeface="Arial"/>
                <a:cs typeface="Arial"/>
              </a:defRPr>
            </a:pPr>
            <a:r>
              <a:rPr sz="1350" b="0">
                <a:solidFill>
                  <a:srgbClr val="35131F"/>
                </a:solidFill>
                <a:latin typeface="Arial"/>
                <a:ea typeface="Arial"/>
                <a:cs typeface="Arial"/>
              </a:rPr>
              <a:t>System links</a:t>
            </a:r>
          </a:p>
          <a:p xmlns:a="http://schemas.openxmlformats.org/drawingml/2006/main">
            <a:pPr>
              <a:defRPr sz="1350" b="0">
                <a:solidFill>
                  <a:srgbClr val="35131F"/>
                </a:solidFill>
                <a:latin typeface="Arial"/>
                <a:ea typeface="Arial"/>
                <a:cs typeface="Arial"/>
              </a:defRPr>
            </a:pPr>
            <a:r>
              <a:rPr sz="1350" b="0">
                <a:solidFill>
                  <a:srgbClr val="35131F"/>
                </a:solidFill>
                <a:latin typeface="Arial"/>
                <a:ea typeface="Arial"/>
                <a:cs typeface="Arial"/>
              </a:rPr>
              <a:t>Positive effort estimates</a:t>
            </a:r>
          </a:p>
        </p:txBody>
      </p:sp>
      <p:sp>
        <p:nvSpPr>
          <p:cNvPr id="9" name="">
            <a:extLst xmlns:a="http://schemas.openxmlformats.org/drawingml/2006/main">
              <a:ext uri="{FF2B5EF4-FFF2-40B4-BE49-F238E27FC236}">
                <a16:creationId xmlns:a16="http://schemas.microsoft.com/office/drawing/2014/main" id="{32D7FAEC-B81C-4155-ABD3-B97EB02D449C}"/>
              </a:ext>
            </a:extLst>
          </p:cNvPr>
          <p:cNvSpPr>
            <a:spLocks xmlns:a="http://schemas.openxmlformats.org/drawingml/2006/main" noGrp="1"/>
          </p:cNvSpPr>
          <p:nvPr/>
        </p:nvSpPr>
        <p:spPr>
          <a:xfrm xmlns:a="http://schemas.openxmlformats.org/drawingml/2006/main">
            <a:off x="3448050" y="2495550"/>
            <a:ext cx="2247900" cy="2095500"/>
          </a:xfrm>
          <a:prstGeom xmlns:a="http://schemas.openxmlformats.org/drawingml/2006/main" prst="roundRect">
            <a:avLst>
              <a:gd name="adj" fmla="val 3636"/>
            </a:avLst>
          </a:prstGeom>
          <a:solidFill xmlns:a="http://schemas.openxmlformats.org/drawingml/2006/main">
            <a:srgbClr val="FCF8F9"/>
          </a:solidFill>
          <a:ln xmlns:a="http://schemas.openxmlformats.org/drawingml/2006/main" w="9525">
            <a:solidFill>
              <a:srgbClr val="E4CCD3"/>
            </a:solidFill>
          </a:ln>
        </p:spPr>
      </p:sp>
      <p:sp>
        <p:nvSpPr>
          <p:cNvPr id="10" name="">
            <a:extLst xmlns:a="http://schemas.openxmlformats.org/drawingml/2006/main">
              <a:ext uri="{FF2B5EF4-FFF2-40B4-BE49-F238E27FC236}">
                <a16:creationId xmlns:a16="http://schemas.microsoft.com/office/drawing/2014/main" id="{986B6BFB-B7DD-4713-A90D-801DDA25E38C}"/>
              </a:ext>
            </a:extLst>
          </p:cNvPr>
          <p:cNvSpPr>
            <a:spLocks xmlns:a="http://schemas.openxmlformats.org/drawingml/2006/main" noGrp="1"/>
          </p:cNvSpPr>
          <p:nvPr/>
        </p:nvSpPr>
        <p:spPr>
          <a:xfrm xmlns:a="http://schemas.openxmlformats.org/drawingml/2006/main">
            <a:off x="3448050" y="2495550"/>
            <a:ext cx="2247900" cy="47625"/>
          </a:xfrm>
          <a:prstGeom xmlns:a="http://schemas.openxmlformats.org/drawingml/2006/main" prst="rect">
            <a:avLst/>
          </a:prstGeom>
          <a:solidFill xmlns:a="http://schemas.openxmlformats.org/drawingml/2006/main">
            <a:srgbClr val="35131F"/>
          </a:solidFill>
          <a:ln xmlns:a="http://schemas.openxmlformats.org/drawingml/2006/main" w="9525">
            <a:solidFill>
              <a:srgbClr val="35131F"/>
            </a:solidFill>
          </a:ln>
        </p:spPr>
      </p:sp>
      <p:sp>
        <p:nvSpPr>
          <p:cNvPr id="11" name="">
            <a:extLst xmlns:a="http://schemas.openxmlformats.org/drawingml/2006/main">
              <a:ext uri="{FF2B5EF4-FFF2-40B4-BE49-F238E27FC236}">
                <a16:creationId xmlns:a16="http://schemas.microsoft.com/office/drawing/2014/main" id="{ADA980BC-9E8B-4F39-83FF-514E8568A7EC}"/>
              </a:ext>
            </a:extLst>
          </p:cNvPr>
          <p:cNvSpPr>
            <a:spLocks xmlns:a="http://schemas.openxmlformats.org/drawingml/2006/main" noGrp="1"/>
          </p:cNvSpPr>
          <p:nvPr/>
        </p:nvSpPr>
        <p:spPr>
          <a:xfrm xmlns:a="http://schemas.openxmlformats.org/drawingml/2006/main">
            <a:off x="3638550" y="2724150"/>
            <a:ext cx="1866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652"/>
          </a:bodyPr>
          <a:lstStyle xmlns:a="http://schemas.openxmlformats.org/drawingml/2006/main"/>
          <a:p xmlns:a="http://schemas.openxmlformats.org/drawingml/2006/main">
            <a:pPr>
              <a:defRPr sz="1725" b="1">
                <a:solidFill>
                  <a:srgbClr val="35131F"/>
                </a:solidFill>
                <a:latin typeface="Arial"/>
                <a:ea typeface="Arial"/>
                <a:cs typeface="Arial"/>
              </a:defRPr>
            </a:pPr>
            <a:r>
              <a:rPr sz="1725" b="1">
                <a:solidFill>
                  <a:srgbClr val="35131F"/>
                </a:solidFill>
                <a:latin typeface="Arial"/>
                <a:ea typeface="Arial"/>
                <a:cs typeface="Arial"/>
              </a:rPr>
              <a:t>Processing</a:t>
            </a:r>
          </a:p>
        </p:txBody>
      </p:sp>
      <p:sp>
        <p:nvSpPr>
          <p:cNvPr id="12" name="">
            <a:extLst xmlns:a="http://schemas.openxmlformats.org/drawingml/2006/main">
              <a:ext uri="{FF2B5EF4-FFF2-40B4-BE49-F238E27FC236}">
                <a16:creationId xmlns:a16="http://schemas.microsoft.com/office/drawing/2014/main" id="{5CF64AF5-226C-4439-BAA7-B1D5838B87B8}"/>
              </a:ext>
            </a:extLst>
          </p:cNvPr>
          <p:cNvSpPr>
            <a:spLocks xmlns:a="http://schemas.openxmlformats.org/drawingml/2006/main" noGrp="1"/>
          </p:cNvSpPr>
          <p:nvPr/>
        </p:nvSpPr>
        <p:spPr>
          <a:xfrm xmlns:a="http://schemas.openxmlformats.org/drawingml/2006/main">
            <a:off x="3638550" y="3257550"/>
            <a:ext cx="18669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35131F"/>
                </a:solidFill>
                <a:latin typeface="Arial"/>
                <a:ea typeface="Arial"/>
                <a:cs typeface="Arial"/>
              </a:defRPr>
            </a:pPr>
            <a:r>
              <a:rPr sz="1350" b="0">
                <a:solidFill>
                  <a:srgbClr val="35131F"/>
                </a:solidFill>
                <a:latin typeface="Arial"/>
                <a:ea typeface="Arial"/>
                <a:cs typeface="Arial"/>
              </a:rPr>
              <a:t>Score each alert</a:t>
            </a:r>
          </a:p>
          <a:p xmlns:a="http://schemas.openxmlformats.org/drawingml/2006/main">
            <a:pPr>
              <a:defRPr sz="1350" b="0">
                <a:solidFill>
                  <a:srgbClr val="35131F"/>
                </a:solidFill>
                <a:latin typeface="Arial"/>
                <a:ea typeface="Arial"/>
                <a:cs typeface="Arial"/>
              </a:defRPr>
            </a:pPr>
            <a:r>
              <a:rPr sz="1350" b="0">
                <a:solidFill>
                  <a:srgbClr val="35131F"/>
                </a:solidFill>
                <a:latin typeface="Arial"/>
                <a:ea typeface="Arial"/>
                <a:cs typeface="Arial"/>
              </a:rPr>
              <a:t>Build an adjacency list</a:t>
            </a:r>
          </a:p>
          <a:p xmlns:a="http://schemas.openxmlformats.org/drawingml/2006/main">
            <a:pPr>
              <a:defRPr sz="1350" b="0">
                <a:solidFill>
                  <a:srgbClr val="35131F"/>
                </a:solidFill>
                <a:latin typeface="Arial"/>
                <a:ea typeface="Arial"/>
                <a:cs typeface="Arial"/>
              </a:defRPr>
            </a:pPr>
            <a:r>
              <a:rPr sz="1350" b="0">
                <a:solidFill>
                  <a:srgbClr val="35131F"/>
                </a:solidFill>
                <a:latin typeface="Arial"/>
                <a:ea typeface="Arial"/>
                <a:cs typeface="Arial"/>
              </a:rPr>
              <a:t>Read route costs</a:t>
            </a:r>
          </a:p>
        </p:txBody>
      </p:sp>
      <p:sp>
        <p:nvSpPr>
          <p:cNvPr id="13" name="">
            <a:extLst xmlns:a="http://schemas.openxmlformats.org/drawingml/2006/main">
              <a:ext uri="{FF2B5EF4-FFF2-40B4-BE49-F238E27FC236}">
                <a16:creationId xmlns:a16="http://schemas.microsoft.com/office/drawing/2014/main" id="{E955FBE8-A624-4C07-B8CC-91D4FA3A47BD}"/>
              </a:ext>
            </a:extLst>
          </p:cNvPr>
          <p:cNvSpPr>
            <a:spLocks xmlns:a="http://schemas.openxmlformats.org/drawingml/2006/main" noGrp="1"/>
          </p:cNvSpPr>
          <p:nvPr/>
        </p:nvSpPr>
        <p:spPr>
          <a:xfrm xmlns:a="http://schemas.openxmlformats.org/drawingml/2006/main">
            <a:off x="6210300" y="2495550"/>
            <a:ext cx="2247900" cy="2095500"/>
          </a:xfrm>
          <a:prstGeom xmlns:a="http://schemas.openxmlformats.org/drawingml/2006/main" prst="roundRect">
            <a:avLst>
              <a:gd name="adj" fmla="val 3636"/>
            </a:avLst>
          </a:prstGeom>
          <a:solidFill xmlns:a="http://schemas.openxmlformats.org/drawingml/2006/main">
            <a:srgbClr val="FCF8F9"/>
          </a:solidFill>
          <a:ln xmlns:a="http://schemas.openxmlformats.org/drawingml/2006/main" w="9525">
            <a:solidFill>
              <a:srgbClr val="E4CCD3"/>
            </a:solidFill>
          </a:ln>
        </p:spPr>
      </p:sp>
      <p:sp>
        <p:nvSpPr>
          <p:cNvPr id="14" name="">
            <a:extLst xmlns:a="http://schemas.openxmlformats.org/drawingml/2006/main">
              <a:ext uri="{FF2B5EF4-FFF2-40B4-BE49-F238E27FC236}">
                <a16:creationId xmlns:a16="http://schemas.microsoft.com/office/drawing/2014/main" id="{CED246B2-48EA-46DC-B7CF-DC5A1C3A2B08}"/>
              </a:ext>
            </a:extLst>
          </p:cNvPr>
          <p:cNvSpPr>
            <a:spLocks xmlns:a="http://schemas.openxmlformats.org/drawingml/2006/main" noGrp="1"/>
          </p:cNvSpPr>
          <p:nvPr/>
        </p:nvSpPr>
        <p:spPr>
          <a:xfrm xmlns:a="http://schemas.openxmlformats.org/drawingml/2006/main">
            <a:off x="6210300" y="2495550"/>
            <a:ext cx="2247900" cy="47625"/>
          </a:xfrm>
          <a:prstGeom xmlns:a="http://schemas.openxmlformats.org/drawingml/2006/main" prst="rect">
            <a:avLst/>
          </a:prstGeom>
          <a:solidFill xmlns:a="http://schemas.openxmlformats.org/drawingml/2006/main">
            <a:srgbClr val="9E6276"/>
          </a:solidFill>
          <a:ln xmlns:a="http://schemas.openxmlformats.org/drawingml/2006/main" w="9525">
            <a:solidFill>
              <a:srgbClr val="9E6276"/>
            </a:solidFill>
          </a:ln>
        </p:spPr>
      </p:sp>
      <p:sp>
        <p:nvSpPr>
          <p:cNvPr id="15" name="">
            <a:extLst xmlns:a="http://schemas.openxmlformats.org/drawingml/2006/main">
              <a:ext uri="{FF2B5EF4-FFF2-40B4-BE49-F238E27FC236}">
                <a16:creationId xmlns:a16="http://schemas.microsoft.com/office/drawing/2014/main" id="{7DFCBAB1-FD50-40EA-B0C7-CBA9B20B3BAE}"/>
              </a:ext>
            </a:extLst>
          </p:cNvPr>
          <p:cNvSpPr>
            <a:spLocks xmlns:a="http://schemas.openxmlformats.org/drawingml/2006/main" noGrp="1"/>
          </p:cNvSpPr>
          <p:nvPr/>
        </p:nvSpPr>
        <p:spPr>
          <a:xfrm xmlns:a="http://schemas.openxmlformats.org/drawingml/2006/main">
            <a:off x="6400800" y="2724150"/>
            <a:ext cx="1866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652"/>
          </a:bodyPr>
          <a:lstStyle xmlns:a="http://schemas.openxmlformats.org/drawingml/2006/main"/>
          <a:p xmlns:a="http://schemas.openxmlformats.org/drawingml/2006/main">
            <a:pPr>
              <a:defRPr sz="1725" b="1">
                <a:solidFill>
                  <a:srgbClr val="9E6276"/>
                </a:solidFill>
                <a:latin typeface="Arial"/>
                <a:ea typeface="Arial"/>
                <a:cs typeface="Arial"/>
              </a:defRPr>
            </a:pPr>
            <a:r>
              <a:rPr sz="1725" b="1">
                <a:solidFill>
                  <a:srgbClr val="9E6276"/>
                </a:solidFill>
                <a:latin typeface="Arial"/>
                <a:ea typeface="Arial"/>
                <a:cs typeface="Arial"/>
              </a:rPr>
              <a:t>Algorithm</a:t>
            </a:r>
          </a:p>
        </p:txBody>
      </p:sp>
      <p:sp>
        <p:nvSpPr>
          <p:cNvPr id="16" name="">
            <a:extLst xmlns:a="http://schemas.openxmlformats.org/drawingml/2006/main">
              <a:ext uri="{FF2B5EF4-FFF2-40B4-BE49-F238E27FC236}">
                <a16:creationId xmlns:a16="http://schemas.microsoft.com/office/drawing/2014/main" id="{5B88F5A8-6867-4DCF-B562-83AB5BB07334}"/>
              </a:ext>
            </a:extLst>
          </p:cNvPr>
          <p:cNvSpPr>
            <a:spLocks xmlns:a="http://schemas.openxmlformats.org/drawingml/2006/main" noGrp="1"/>
          </p:cNvSpPr>
          <p:nvPr/>
        </p:nvSpPr>
        <p:spPr>
          <a:xfrm xmlns:a="http://schemas.openxmlformats.org/drawingml/2006/main">
            <a:off x="6400800" y="3257550"/>
            <a:ext cx="18669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35131F"/>
                </a:solidFill>
                <a:latin typeface="Arial"/>
                <a:ea typeface="Arial"/>
                <a:cs typeface="Arial"/>
              </a:defRPr>
            </a:pPr>
            <a:r>
              <a:rPr sz="1350" b="0">
                <a:solidFill>
                  <a:srgbClr val="35131F"/>
                </a:solidFill>
                <a:latin typeface="Arial"/>
                <a:ea typeface="Arial"/>
                <a:cs typeface="Arial"/>
              </a:rPr>
              <a:t>Max-heap ranking</a:t>
            </a:r>
          </a:p>
          <a:p xmlns:a="http://schemas.openxmlformats.org/drawingml/2006/main">
            <a:pPr>
              <a:defRPr sz="1350" b="0">
                <a:solidFill>
                  <a:srgbClr val="35131F"/>
                </a:solidFill>
                <a:latin typeface="Arial"/>
                <a:ea typeface="Arial"/>
                <a:cs typeface="Arial"/>
              </a:defRPr>
            </a:pPr>
            <a:r>
              <a:rPr sz="1350" b="0">
                <a:solidFill>
                  <a:srgbClr val="35131F"/>
                </a:solidFill>
                <a:latin typeface="Arial"/>
                <a:ea typeface="Arial"/>
                <a:cs typeface="Arial"/>
              </a:rPr>
              <a:t>BFS reachability</a:t>
            </a:r>
          </a:p>
          <a:p xmlns:a="http://schemas.openxmlformats.org/drawingml/2006/main">
            <a:pPr>
              <a:defRPr sz="1350" b="0">
                <a:solidFill>
                  <a:srgbClr val="35131F"/>
                </a:solidFill>
                <a:latin typeface="Arial"/>
                <a:ea typeface="Arial"/>
                <a:cs typeface="Arial"/>
              </a:defRPr>
            </a:pPr>
            <a:r>
              <a:rPr sz="1350" b="0">
                <a:solidFill>
                  <a:srgbClr val="35131F"/>
                </a:solidFill>
                <a:latin typeface="Arial"/>
                <a:ea typeface="Arial"/>
                <a:cs typeface="Arial"/>
              </a:rPr>
              <a:t>BFS and Dijkstra routes</a:t>
            </a:r>
          </a:p>
        </p:txBody>
      </p:sp>
      <p:sp>
        <p:nvSpPr>
          <p:cNvPr id="17" name="">
            <a:extLst xmlns:a="http://schemas.openxmlformats.org/drawingml/2006/main">
              <a:ext uri="{FF2B5EF4-FFF2-40B4-BE49-F238E27FC236}">
                <a16:creationId xmlns:a16="http://schemas.microsoft.com/office/drawing/2014/main" id="{C1CAF6E2-58CB-481A-BF03-8C2B6094651E}"/>
              </a:ext>
            </a:extLst>
          </p:cNvPr>
          <p:cNvSpPr>
            <a:spLocks xmlns:a="http://schemas.openxmlformats.org/drawingml/2006/main" noGrp="1"/>
          </p:cNvSpPr>
          <p:nvPr/>
        </p:nvSpPr>
        <p:spPr>
          <a:xfrm xmlns:a="http://schemas.openxmlformats.org/drawingml/2006/main">
            <a:off x="8972550" y="2495550"/>
            <a:ext cx="2247900" cy="2095500"/>
          </a:xfrm>
          <a:prstGeom xmlns:a="http://schemas.openxmlformats.org/drawingml/2006/main" prst="roundRect">
            <a:avLst>
              <a:gd name="adj" fmla="val 3636"/>
            </a:avLst>
          </a:prstGeom>
          <a:solidFill xmlns:a="http://schemas.openxmlformats.org/drawingml/2006/main">
            <a:srgbClr val="FCF8F9"/>
          </a:solidFill>
          <a:ln xmlns:a="http://schemas.openxmlformats.org/drawingml/2006/main" w="9525">
            <a:solidFill>
              <a:srgbClr val="E4CCD3"/>
            </a:solidFill>
          </a:ln>
        </p:spPr>
      </p:sp>
      <p:sp>
        <p:nvSpPr>
          <p:cNvPr id="18" name="">
            <a:extLst xmlns:a="http://schemas.openxmlformats.org/drawingml/2006/main">
              <a:ext uri="{FF2B5EF4-FFF2-40B4-BE49-F238E27FC236}">
                <a16:creationId xmlns:a16="http://schemas.microsoft.com/office/drawing/2014/main" id="{C3691A6E-48E8-45CE-8F3F-639CDCE5A312}"/>
              </a:ext>
            </a:extLst>
          </p:cNvPr>
          <p:cNvSpPr>
            <a:spLocks xmlns:a="http://schemas.openxmlformats.org/drawingml/2006/main" noGrp="1"/>
          </p:cNvSpPr>
          <p:nvPr/>
        </p:nvSpPr>
        <p:spPr>
          <a:xfrm xmlns:a="http://schemas.openxmlformats.org/drawingml/2006/main">
            <a:off x="8972550" y="2495550"/>
            <a:ext cx="2247900" cy="47625"/>
          </a:xfrm>
          <a:prstGeom xmlns:a="http://schemas.openxmlformats.org/drawingml/2006/main" prst="rect">
            <a:avLst/>
          </a:prstGeom>
          <a:solidFill xmlns:a="http://schemas.openxmlformats.org/drawingml/2006/main">
            <a:srgbClr val="8F354F"/>
          </a:solidFill>
          <a:ln xmlns:a="http://schemas.openxmlformats.org/drawingml/2006/main" w="9525">
            <a:solidFill>
              <a:srgbClr val="8F354F"/>
            </a:solidFill>
          </a:ln>
        </p:spPr>
      </p:sp>
      <p:sp>
        <p:nvSpPr>
          <p:cNvPr id="19" name="">
            <a:extLst xmlns:a="http://schemas.openxmlformats.org/drawingml/2006/main">
              <a:ext uri="{FF2B5EF4-FFF2-40B4-BE49-F238E27FC236}">
                <a16:creationId xmlns:a16="http://schemas.microsoft.com/office/drawing/2014/main" id="{14F55FA0-A540-4A8E-BFFA-774A3B86429B}"/>
              </a:ext>
            </a:extLst>
          </p:cNvPr>
          <p:cNvSpPr>
            <a:spLocks xmlns:a="http://schemas.openxmlformats.org/drawingml/2006/main" noGrp="1"/>
          </p:cNvSpPr>
          <p:nvPr/>
        </p:nvSpPr>
        <p:spPr>
          <a:xfrm xmlns:a="http://schemas.openxmlformats.org/drawingml/2006/main">
            <a:off x="9163050" y="2724150"/>
            <a:ext cx="1866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652"/>
          </a:bodyPr>
          <a:lstStyle xmlns:a="http://schemas.openxmlformats.org/drawingml/2006/main"/>
          <a:p xmlns:a="http://schemas.openxmlformats.org/drawingml/2006/main">
            <a:pPr>
              <a:defRPr sz="1725" b="1">
                <a:solidFill>
                  <a:srgbClr val="8F354F"/>
                </a:solidFill>
                <a:latin typeface="Arial"/>
                <a:ea typeface="Arial"/>
                <a:cs typeface="Arial"/>
              </a:defRPr>
            </a:pPr>
            <a:r>
              <a:rPr sz="1725" b="1">
                <a:solidFill>
                  <a:srgbClr val="8F354F"/>
                </a:solidFill>
                <a:latin typeface="Arial"/>
                <a:ea typeface="Arial"/>
                <a:cs typeface="Arial"/>
              </a:rPr>
              <a:t>Output</a:t>
            </a:r>
          </a:p>
        </p:txBody>
      </p:sp>
      <p:sp>
        <p:nvSpPr>
          <p:cNvPr id="20" name="">
            <a:extLst xmlns:a="http://schemas.openxmlformats.org/drawingml/2006/main">
              <a:ext uri="{FF2B5EF4-FFF2-40B4-BE49-F238E27FC236}">
                <a16:creationId xmlns:a16="http://schemas.microsoft.com/office/drawing/2014/main" id="{22F3945A-D677-493F-82F9-537809703D5E}"/>
              </a:ext>
            </a:extLst>
          </p:cNvPr>
          <p:cNvSpPr>
            <a:spLocks xmlns:a="http://schemas.openxmlformats.org/drawingml/2006/main" noGrp="1"/>
          </p:cNvSpPr>
          <p:nvPr/>
        </p:nvSpPr>
        <p:spPr>
          <a:xfrm xmlns:a="http://schemas.openxmlformats.org/drawingml/2006/main">
            <a:off x="9163050" y="3257550"/>
            <a:ext cx="18669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35131F"/>
                </a:solidFill>
                <a:latin typeface="Arial"/>
                <a:ea typeface="Arial"/>
                <a:cs typeface="Arial"/>
              </a:defRPr>
            </a:pPr>
            <a:r>
              <a:rPr sz="1350" b="0">
                <a:solidFill>
                  <a:srgbClr val="35131F"/>
                </a:solidFill>
                <a:latin typeface="Arial"/>
                <a:ea typeface="Arial"/>
                <a:cs typeface="Arial"/>
              </a:rPr>
              <a:t>Priority order</a:t>
            </a:r>
          </a:p>
          <a:p xmlns:a="http://schemas.openxmlformats.org/drawingml/2006/main">
            <a:pPr>
              <a:defRPr sz="1350" b="0">
                <a:solidFill>
                  <a:srgbClr val="35131F"/>
                </a:solidFill>
                <a:latin typeface="Arial"/>
                <a:ea typeface="Arial"/>
                <a:cs typeface="Arial"/>
              </a:defRPr>
            </a:pPr>
            <a:r>
              <a:rPr sz="1350" b="0">
                <a:solidFill>
                  <a:srgbClr val="35131F"/>
                </a:solidFill>
                <a:latin typeface="Arial"/>
                <a:ea typeface="Arial"/>
                <a:cs typeface="Arial"/>
              </a:rPr>
              <a:t>Reachable systems</a:t>
            </a:r>
          </a:p>
          <a:p xmlns:a="http://schemas.openxmlformats.org/drawingml/2006/main">
            <a:pPr>
              <a:defRPr sz="1350" b="0">
                <a:solidFill>
                  <a:srgbClr val="35131F"/>
                </a:solidFill>
                <a:latin typeface="Arial"/>
                <a:ea typeface="Arial"/>
                <a:cs typeface="Arial"/>
              </a:defRPr>
            </a:pPr>
            <a:r>
              <a:rPr sz="1350" b="0">
                <a:solidFill>
                  <a:srgbClr val="35131F"/>
                </a:solidFill>
                <a:latin typeface="Arial"/>
                <a:ea typeface="Arial"/>
                <a:cs typeface="Arial"/>
              </a:rPr>
              <a:t>Route and cost</a:t>
            </a:r>
          </a:p>
        </p:txBody>
      </p:sp>
      <p:sp>
        <p:nvSpPr>
          <p:cNvPr id="21" name="">
            <a:extLst xmlns:a="http://schemas.openxmlformats.org/drawingml/2006/main">
              <a:ext uri="{FF2B5EF4-FFF2-40B4-BE49-F238E27FC236}">
                <a16:creationId xmlns:a16="http://schemas.microsoft.com/office/drawing/2014/main" id="{946DF281-2AAB-4175-92AB-6343ACE56ABF}"/>
              </a:ext>
            </a:extLst>
          </p:cNvPr>
          <p:cNvSpPr>
            <a:spLocks xmlns:a="http://schemas.openxmlformats.org/drawingml/2006/main" noGrp="1"/>
          </p:cNvSpPr>
          <p:nvPr/>
        </p:nvSpPr>
        <p:spPr>
          <a:xfrm xmlns:a="http://schemas.openxmlformats.org/drawingml/2006/main">
            <a:off x="3019425" y="3286125"/>
            <a:ext cx="3238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159"/>
          </a:bodyPr>
          <a:lstStyle xmlns:a="http://schemas.openxmlformats.org/drawingml/2006/main"/>
          <a:p xmlns:a="http://schemas.openxmlformats.org/drawingml/2006/main">
            <a:pPr>
              <a:defRPr sz="3150" b="1">
                <a:solidFill>
                  <a:srgbClr val="8F354F"/>
                </a:solidFill>
                <a:latin typeface="Arial"/>
                <a:ea typeface="Arial"/>
                <a:cs typeface="Arial"/>
              </a:defRPr>
            </a:pPr>
            <a:r>
              <a:rPr sz="3150" b="1">
                <a:solidFill>
                  <a:srgbClr val="8F354F"/>
                </a:solidFill>
                <a:latin typeface="Arial"/>
                <a:ea typeface="Arial"/>
                <a:cs typeface="Arial"/>
              </a:rPr>
              <a:t>›</a:t>
            </a:r>
          </a:p>
        </p:txBody>
      </p:sp>
      <p:sp>
        <p:nvSpPr>
          <p:cNvPr id="22" name="">
            <a:extLst xmlns:a="http://schemas.openxmlformats.org/drawingml/2006/main">
              <a:ext uri="{FF2B5EF4-FFF2-40B4-BE49-F238E27FC236}">
                <a16:creationId xmlns:a16="http://schemas.microsoft.com/office/drawing/2014/main" id="{A880FD2E-81B3-4944-966C-DCA63AD8BC0A}"/>
              </a:ext>
            </a:extLst>
          </p:cNvPr>
          <p:cNvSpPr>
            <a:spLocks xmlns:a="http://schemas.openxmlformats.org/drawingml/2006/main" noGrp="1"/>
          </p:cNvSpPr>
          <p:nvPr/>
        </p:nvSpPr>
        <p:spPr>
          <a:xfrm xmlns:a="http://schemas.openxmlformats.org/drawingml/2006/main">
            <a:off x="5781675" y="3286125"/>
            <a:ext cx="3238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159"/>
          </a:bodyPr>
          <a:lstStyle xmlns:a="http://schemas.openxmlformats.org/drawingml/2006/main"/>
          <a:p xmlns:a="http://schemas.openxmlformats.org/drawingml/2006/main">
            <a:pPr>
              <a:defRPr sz="3150" b="1">
                <a:solidFill>
                  <a:srgbClr val="8F354F"/>
                </a:solidFill>
                <a:latin typeface="Arial"/>
                <a:ea typeface="Arial"/>
                <a:cs typeface="Arial"/>
              </a:defRPr>
            </a:pPr>
            <a:r>
              <a:rPr sz="3150" b="1">
                <a:solidFill>
                  <a:srgbClr val="8F354F"/>
                </a:solidFill>
                <a:latin typeface="Arial"/>
                <a:ea typeface="Arial"/>
                <a:cs typeface="Arial"/>
              </a:rPr>
              <a:t>›</a:t>
            </a:r>
          </a:p>
        </p:txBody>
      </p:sp>
      <p:sp>
        <p:nvSpPr>
          <p:cNvPr id="23" name="">
            <a:extLst xmlns:a="http://schemas.openxmlformats.org/drawingml/2006/main">
              <a:ext uri="{FF2B5EF4-FFF2-40B4-BE49-F238E27FC236}">
                <a16:creationId xmlns:a16="http://schemas.microsoft.com/office/drawing/2014/main" id="{390DF7FF-B03A-4EC4-85D6-DEAAA9A864BB}"/>
              </a:ext>
            </a:extLst>
          </p:cNvPr>
          <p:cNvSpPr>
            <a:spLocks xmlns:a="http://schemas.openxmlformats.org/drawingml/2006/main" noGrp="1"/>
          </p:cNvSpPr>
          <p:nvPr/>
        </p:nvSpPr>
        <p:spPr>
          <a:xfrm xmlns:a="http://schemas.openxmlformats.org/drawingml/2006/main">
            <a:off x="8543925" y="3286125"/>
            <a:ext cx="3238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159"/>
          </a:bodyPr>
          <a:lstStyle xmlns:a="http://schemas.openxmlformats.org/drawingml/2006/main"/>
          <a:p xmlns:a="http://schemas.openxmlformats.org/drawingml/2006/main">
            <a:pPr>
              <a:defRPr sz="3150" b="1">
                <a:solidFill>
                  <a:srgbClr val="8F354F"/>
                </a:solidFill>
                <a:latin typeface="Arial"/>
                <a:ea typeface="Arial"/>
                <a:cs typeface="Arial"/>
              </a:defRPr>
            </a:pPr>
            <a:r>
              <a:rPr sz="3150" b="1">
                <a:solidFill>
                  <a:srgbClr val="8F354F"/>
                </a:solidFill>
                <a:latin typeface="Arial"/>
                <a:ea typeface="Arial"/>
                <a:cs typeface="Arial"/>
              </a:rPr>
              <a:t>›</a:t>
            </a:r>
          </a:p>
        </p:txBody>
      </p:sp>
      <p:sp>
        <p:nvSpPr>
          <p:cNvPr id="24" name="">
            <a:extLst xmlns:a="http://schemas.openxmlformats.org/drawingml/2006/main">
              <a:ext uri="{FF2B5EF4-FFF2-40B4-BE49-F238E27FC236}">
                <a16:creationId xmlns:a16="http://schemas.microsoft.com/office/drawing/2014/main" id="{67196C18-77DE-4565-9153-5FC7EA5460F8}"/>
              </a:ext>
            </a:extLst>
          </p:cNvPr>
          <p:cNvSpPr>
            <a:spLocks xmlns:a="http://schemas.openxmlformats.org/drawingml/2006/main" noGrp="1"/>
          </p:cNvSpPr>
          <p:nvPr/>
        </p:nvSpPr>
        <p:spPr>
          <a:xfrm xmlns:a="http://schemas.openxmlformats.org/drawingml/2006/main">
            <a:off x="685800" y="5067300"/>
            <a:ext cx="10820400" cy="9525"/>
          </a:xfrm>
          <a:prstGeom xmlns:a="http://schemas.openxmlformats.org/drawingml/2006/main" prst="rect">
            <a:avLst/>
          </a:prstGeom>
          <a:solidFill xmlns:a="http://schemas.openxmlformats.org/drawingml/2006/main">
            <a:srgbClr val="E4CCD3"/>
          </a:solidFill>
          <a:ln xmlns:a="http://schemas.openxmlformats.org/drawingml/2006/main" w="9525">
            <a:solidFill>
              <a:srgbClr val="E4CCD3"/>
            </a:solidFill>
          </a:ln>
        </p:spPr>
      </p:sp>
      <p:sp>
        <p:nvSpPr>
          <p:cNvPr id="25" name="">
            <a:extLst xmlns:a="http://schemas.openxmlformats.org/drawingml/2006/main">
              <a:ext uri="{FF2B5EF4-FFF2-40B4-BE49-F238E27FC236}">
                <a16:creationId xmlns:a16="http://schemas.microsoft.com/office/drawing/2014/main" id="{E61EF418-706C-4785-85E7-1514B7FB78C3}"/>
              </a:ext>
            </a:extLst>
          </p:cNvPr>
          <p:cNvSpPr>
            <a:spLocks xmlns:a="http://schemas.openxmlformats.org/drawingml/2006/main" noGrp="1"/>
          </p:cNvSpPr>
          <p:nvPr/>
        </p:nvSpPr>
        <p:spPr>
          <a:xfrm xmlns:a="http://schemas.openxmlformats.org/drawingml/2006/main">
            <a:off x="685800" y="5295900"/>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9487"/>
          </a:bodyPr>
          <a:lstStyle xmlns:a="http://schemas.openxmlformats.org/drawingml/2006/main"/>
          <a:p xmlns:a="http://schemas.openxmlformats.org/drawingml/2006/main">
            <a:pPr>
              <a:defRPr sz="975" b="1">
                <a:solidFill>
                  <a:srgbClr val="9E6276"/>
                </a:solidFill>
                <a:latin typeface="Arial"/>
                <a:ea typeface="Arial"/>
                <a:cs typeface="Arial"/>
              </a:defRPr>
            </a:pPr>
            <a:r>
              <a:rPr sz="975" b="1">
                <a:solidFill>
                  <a:srgbClr val="9E6276"/>
                </a:solidFill>
                <a:latin typeface="Arial"/>
                <a:ea typeface="Arial"/>
                <a:cs typeface="Arial"/>
              </a:rPr>
              <a:t>USER JOURNEY</a:t>
            </a:r>
          </a:p>
        </p:txBody>
      </p:sp>
      <p:sp>
        <p:nvSpPr>
          <p:cNvPr id="26" name="">
            <a:extLst xmlns:a="http://schemas.openxmlformats.org/drawingml/2006/main">
              <a:ext uri="{FF2B5EF4-FFF2-40B4-BE49-F238E27FC236}">
                <a16:creationId xmlns:a16="http://schemas.microsoft.com/office/drawing/2014/main" id="{5338F70D-5601-46EE-9EEE-49A2F122C928}"/>
              </a:ext>
            </a:extLst>
          </p:cNvPr>
          <p:cNvSpPr>
            <a:spLocks xmlns:a="http://schemas.openxmlformats.org/drawingml/2006/main" noGrp="1"/>
          </p:cNvSpPr>
          <p:nvPr/>
        </p:nvSpPr>
        <p:spPr>
          <a:xfrm xmlns:a="http://schemas.openxmlformats.org/drawingml/2006/main">
            <a:off x="685800" y="5610225"/>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425" b="0">
                <a:solidFill>
                  <a:srgbClr val="35131F"/>
                </a:solidFill>
                <a:latin typeface="Arial"/>
                <a:ea typeface="Arial"/>
                <a:cs typeface="Arial"/>
              </a:defRPr>
            </a:pPr>
            <a:r>
              <a:rPr sz="1425" b="0">
                <a:solidFill>
                  <a:srgbClr val="35131F"/>
                </a:solidFill>
                <a:latin typeface="Arial"/>
                <a:ea typeface="Arial"/>
                <a:cs typeface="Arial"/>
              </a:rPr>
              <a:t>Run the plan, select an alert, inspect the score and reachability, compare routes, then edit the fictional scenario if needed.</a:t>
            </a:r>
          </a:p>
        </p:txBody>
      </p:sp>
      <p:sp>
        <p:nvSpPr>
          <p:cNvPr id="27" name="">
            <a:extLst xmlns:a="http://schemas.openxmlformats.org/drawingml/2006/main">
              <a:ext uri="{FF2B5EF4-FFF2-40B4-BE49-F238E27FC236}">
                <a16:creationId xmlns:a16="http://schemas.microsoft.com/office/drawing/2014/main" id="{09E6E034-28C3-454A-B75E-EF49D476C7A3}"/>
              </a:ext>
            </a:extLst>
          </p:cNvPr>
          <p:cNvSpPr>
            <a:spLocks xmlns:a="http://schemas.openxmlformats.org/drawingml/2006/main" noGrp="1"/>
          </p:cNvSpPr>
          <p:nvPr/>
        </p:nvSpPr>
        <p:spPr>
          <a:xfrm xmlns:a="http://schemas.openxmlformats.org/drawingml/2006/main">
            <a:off x="685800" y="6486525"/>
            <a:ext cx="838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222"/>
          </a:bodyPr>
          <a:lstStyle xmlns:a="http://schemas.openxmlformats.org/drawingml/2006/main"/>
          <a:p xmlns:a="http://schemas.openxmlformats.org/drawingml/2006/main">
            <a:pPr>
              <a:defRPr sz="900" b="1">
                <a:solidFill>
                  <a:srgbClr val="826A73"/>
                </a:solidFill>
                <a:latin typeface="Arial"/>
                <a:ea typeface="Arial"/>
                <a:cs typeface="Arial"/>
              </a:defRPr>
            </a:pPr>
            <a:r>
              <a:rPr sz="900" b="1">
                <a:solidFill>
                  <a:srgbClr val="826A73"/>
                </a:solidFill>
                <a:latin typeface="Arial"/>
                <a:ea typeface="Arial"/>
                <a:cs typeface="Arial"/>
              </a:rPr>
              <a:t>PROBLEM 92    CYBER INCIDENT RESPONSE PLANNER</a:t>
            </a:r>
          </a:p>
        </p:txBody>
      </p:sp>
      <p:sp>
        <p:nvSpPr>
          <p:cNvPr id="28" name="">
            <a:extLst xmlns:a="http://schemas.openxmlformats.org/drawingml/2006/main">
              <a:ext uri="{FF2B5EF4-FFF2-40B4-BE49-F238E27FC236}">
                <a16:creationId xmlns:a16="http://schemas.microsoft.com/office/drawing/2014/main" id="{1573C3D6-6E77-4923-9534-58B463B7D9CE}"/>
              </a:ext>
            </a:extLst>
          </p:cNvPr>
          <p:cNvSpPr>
            <a:spLocks xmlns:a="http://schemas.openxmlformats.org/drawingml/2006/main" noGrp="1"/>
          </p:cNvSpPr>
          <p:nvPr/>
        </p:nvSpPr>
        <p:spPr>
          <a:xfrm xmlns:a="http://schemas.openxmlformats.org/drawingml/2006/main">
            <a:off x="10668000" y="6486525"/>
            <a:ext cx="838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222"/>
          </a:bodyPr>
          <a:lstStyle xmlns:a="http://schemas.openxmlformats.org/drawingml/2006/main"/>
          <a:p xmlns:a="http://schemas.openxmlformats.org/drawingml/2006/main">
            <a:pPr>
              <a:defRPr sz="900" b="1">
                <a:solidFill>
                  <a:srgbClr val="826A73"/>
                </a:solidFill>
                <a:latin typeface="Arial"/>
                <a:ea typeface="Arial"/>
                <a:cs typeface="Arial"/>
              </a:defRPr>
            </a:pPr>
            <a:r>
              <a:rPr sz="900" b="1">
                <a:solidFill>
                  <a:srgbClr val="826A73"/>
                </a:solidFill>
                <a:latin typeface="Arial"/>
                <a:ea typeface="Arial"/>
                <a:cs typeface="Arial"/>
              </a:rPr>
              <a:t>04 / 07</a:t>
            </a:r>
          </a:p>
        </p:txBody>
      </p:sp>
    </p:spTree>
    <p:extLst>
      <p:ext uri="{BB962C8B-B14F-4D97-AF65-F5344CB8AC3E}">
        <p14:creationId xmlns:p14="http://schemas.microsoft.com/office/powerpoint/2010/main" val="1789423605"/>
      </p:ext>
    </p:extLst>
  </p:cSld>
</p:sld>
</file>

<file path=ppt/slides/slide5.xml><?xml version="1.0" encoding="utf-8"?>
<p:sld xmlns:p="http://schemas.openxmlformats.org/presentationml/2006/main">
  <p:cSld>
    <p:bg>
      <p:bgPr>
        <a:solidFill xmlns:a="http://schemas.openxmlformats.org/drawingml/2006/main">
          <a:srgbClr val="FCF8F9"/>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974F605B-3BCA-4302-A583-A25C7650CB06}"/>
              </a:ext>
            </a:extLst>
          </p:cNvPr>
          <p:cNvSpPr>
            <a:spLocks xmlns:a="http://schemas.openxmlformats.org/drawingml/2006/main" noGrp="1"/>
          </p:cNvSpPr>
          <p:nvPr/>
        </p:nvSpPr>
        <p:spPr>
          <a:xfrm xmlns:a="http://schemas.openxmlformats.org/drawingml/2006/main">
            <a:off x="685800" y="400050"/>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9487"/>
          </a:bodyPr>
          <a:lstStyle xmlns:a="http://schemas.openxmlformats.org/drawingml/2006/main"/>
          <a:p xmlns:a="http://schemas.openxmlformats.org/drawingml/2006/main">
            <a:pPr>
              <a:defRPr sz="975" b="1">
                <a:solidFill>
                  <a:srgbClr val="8F354F"/>
                </a:solidFill>
                <a:latin typeface="Arial"/>
                <a:ea typeface="Arial"/>
                <a:cs typeface="Arial"/>
              </a:defRPr>
            </a:pPr>
            <a:r>
              <a:rPr sz="975" b="1">
                <a:solidFill>
                  <a:srgbClr val="8F354F"/>
                </a:solidFill>
                <a:latin typeface="Arial"/>
                <a:ea typeface="Arial"/>
                <a:cs typeface="Arial"/>
              </a:rPr>
              <a:t>TECHNOLOGY &amp; ALGORITHM</a:t>
            </a:r>
          </a:p>
        </p:txBody>
      </p:sp>
      <p:sp>
        <p:nvSpPr>
          <p:cNvPr id="2" name="">
            <a:extLst xmlns:a="http://schemas.openxmlformats.org/drawingml/2006/main">
              <a:ext uri="{FF2B5EF4-FFF2-40B4-BE49-F238E27FC236}">
                <a16:creationId xmlns:a16="http://schemas.microsoft.com/office/drawing/2014/main" id="{FD056D85-B216-4FD4-A8BA-B0537A8E4858}"/>
              </a:ext>
            </a:extLst>
          </p:cNvPr>
          <p:cNvSpPr>
            <a:spLocks xmlns:a="http://schemas.openxmlformats.org/drawingml/2006/main" noGrp="1"/>
          </p:cNvSpPr>
          <p:nvPr/>
        </p:nvSpPr>
        <p:spPr>
          <a:xfrm xmlns:a="http://schemas.openxmlformats.org/drawingml/2006/main">
            <a:off x="685800" y="742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150" b="1">
                <a:solidFill>
                  <a:srgbClr val="35131F"/>
                </a:solidFill>
                <a:latin typeface="Arial"/>
                <a:ea typeface="Arial"/>
                <a:cs typeface="Arial"/>
              </a:defRPr>
            </a:pPr>
            <a:r>
              <a:rPr sz="3150" b="1">
                <a:solidFill>
                  <a:srgbClr val="35131F"/>
                </a:solidFill>
                <a:latin typeface="Arial"/>
                <a:ea typeface="Arial"/>
                <a:cs typeface="Arial"/>
              </a:rPr>
              <a:t>The data structure matches the decision.</a:t>
            </a:r>
          </a:p>
        </p:txBody>
      </p:sp>
      <p:sp>
        <p:nvSpPr>
          <p:cNvPr id="3" name="">
            <a:extLst xmlns:a="http://schemas.openxmlformats.org/drawingml/2006/main">
              <a:ext uri="{FF2B5EF4-FFF2-40B4-BE49-F238E27FC236}">
                <a16:creationId xmlns:a16="http://schemas.microsoft.com/office/drawing/2014/main" id="{61AED502-0CEF-4EAF-96DC-7F79BCDAEEFB}"/>
              </a:ext>
            </a:extLst>
          </p:cNvPr>
          <p:cNvSpPr>
            <a:spLocks xmlns:a="http://schemas.openxmlformats.org/drawingml/2006/main" noGrp="1"/>
          </p:cNvSpPr>
          <p:nvPr/>
        </p:nvSpPr>
        <p:spPr>
          <a:xfrm xmlns:a="http://schemas.openxmlformats.org/drawingml/2006/main">
            <a:off x="685800" y="1562100"/>
            <a:ext cx="10820400" cy="9525"/>
          </a:xfrm>
          <a:prstGeom xmlns:a="http://schemas.openxmlformats.org/drawingml/2006/main" prst="rect">
            <a:avLst/>
          </a:prstGeom>
          <a:solidFill xmlns:a="http://schemas.openxmlformats.org/drawingml/2006/main">
            <a:srgbClr val="E4CCD3"/>
          </a:solidFill>
          <a:ln xmlns:a="http://schemas.openxmlformats.org/drawingml/2006/main" w="9525">
            <a:solidFill>
              <a:srgbClr val="E4CCD3"/>
            </a:solidFill>
          </a:ln>
        </p:spPr>
      </p:sp>
      <p:sp>
        <p:nvSpPr>
          <p:cNvPr id="4" name="">
            <a:extLst xmlns:a="http://schemas.openxmlformats.org/drawingml/2006/main">
              <a:ext uri="{FF2B5EF4-FFF2-40B4-BE49-F238E27FC236}">
                <a16:creationId xmlns:a16="http://schemas.microsoft.com/office/drawing/2014/main" id="{74EF7505-89EC-4CB6-8D48-72682F3B6C1C}"/>
              </a:ext>
            </a:extLst>
          </p:cNvPr>
          <p:cNvSpPr>
            <a:spLocks xmlns:a="http://schemas.openxmlformats.org/drawingml/2006/main" noGrp="1"/>
          </p:cNvSpPr>
          <p:nvPr/>
        </p:nvSpPr>
        <p:spPr>
          <a:xfrm xmlns:a="http://schemas.openxmlformats.org/drawingml/2006/main">
            <a:off x="685800" y="1847850"/>
            <a:ext cx="2095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8F354F"/>
                </a:solidFill>
                <a:latin typeface="Arial"/>
                <a:ea typeface="Arial"/>
                <a:cs typeface="Arial"/>
              </a:defRPr>
            </a:pPr>
            <a:r>
              <a:rPr sz="975" b="1">
                <a:solidFill>
                  <a:srgbClr val="8F354F"/>
                </a:solidFill>
                <a:latin typeface="Arial"/>
                <a:ea typeface="Arial"/>
                <a:cs typeface="Arial"/>
              </a:rPr>
              <a:t>TECH STACK</a:t>
            </a:r>
          </a:p>
        </p:txBody>
      </p:sp>
      <p:sp>
        <p:nvSpPr>
          <p:cNvPr id="5" name="">
            <a:extLst xmlns:a="http://schemas.openxmlformats.org/drawingml/2006/main">
              <a:ext uri="{FF2B5EF4-FFF2-40B4-BE49-F238E27FC236}">
                <a16:creationId xmlns:a16="http://schemas.microsoft.com/office/drawing/2014/main" id="{C8EC90EB-BDB3-4070-A77F-79CD4B85FBC6}"/>
              </a:ext>
            </a:extLst>
          </p:cNvPr>
          <p:cNvSpPr>
            <a:spLocks xmlns:a="http://schemas.openxmlformats.org/drawingml/2006/main" noGrp="1"/>
          </p:cNvSpPr>
          <p:nvPr/>
        </p:nvSpPr>
        <p:spPr>
          <a:xfrm xmlns:a="http://schemas.openxmlformats.org/drawingml/2006/main">
            <a:off x="685800" y="213360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0">
                <a:solidFill>
                  <a:srgbClr val="35131F"/>
                </a:solidFill>
                <a:latin typeface="Arial"/>
                <a:ea typeface="Arial"/>
                <a:cs typeface="Arial"/>
              </a:defRPr>
            </a:pPr>
            <a:r>
              <a:rPr sz="1500" b="0">
                <a:solidFill>
                  <a:srgbClr val="35131F"/>
                </a:solidFill>
                <a:latin typeface="Arial"/>
                <a:ea typeface="Arial"/>
                <a:cs typeface="Arial"/>
              </a:rPr>
              <a:t>React 19, Vite, JavaScript. Scenario state stays in the current browser page.</a:t>
            </a:r>
          </a:p>
        </p:txBody>
      </p:sp>
      <p:sp>
        <p:nvSpPr>
          <p:cNvPr id="6" name="">
            <a:extLst xmlns:a="http://schemas.openxmlformats.org/drawingml/2006/main">
              <a:ext uri="{FF2B5EF4-FFF2-40B4-BE49-F238E27FC236}">
                <a16:creationId xmlns:a16="http://schemas.microsoft.com/office/drawing/2014/main" id="{A17CD87E-FB0F-4D18-A053-6BAD930F9AB2}"/>
              </a:ext>
            </a:extLst>
          </p:cNvPr>
          <p:cNvSpPr>
            <a:spLocks xmlns:a="http://schemas.openxmlformats.org/drawingml/2006/main" noGrp="1"/>
          </p:cNvSpPr>
          <p:nvPr/>
        </p:nvSpPr>
        <p:spPr>
          <a:xfrm xmlns:a="http://schemas.openxmlformats.org/drawingml/2006/main">
            <a:off x="685800" y="2876550"/>
            <a:ext cx="342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9E6276"/>
                </a:solidFill>
                <a:latin typeface="Arial"/>
                <a:ea typeface="Arial"/>
                <a:cs typeface="Arial"/>
              </a:defRPr>
            </a:pPr>
            <a:r>
              <a:rPr sz="975" b="1">
                <a:solidFill>
                  <a:srgbClr val="9E6276"/>
                </a:solidFill>
                <a:latin typeface="Arial"/>
                <a:ea typeface="Arial"/>
                <a:cs typeface="Arial"/>
              </a:rPr>
              <a:t>METHOD</a:t>
            </a:r>
          </a:p>
        </p:txBody>
      </p:sp>
      <p:sp>
        <p:nvSpPr>
          <p:cNvPr id="7" name="">
            <a:extLst xmlns:a="http://schemas.openxmlformats.org/drawingml/2006/main">
              <a:ext uri="{FF2B5EF4-FFF2-40B4-BE49-F238E27FC236}">
                <a16:creationId xmlns:a16="http://schemas.microsoft.com/office/drawing/2014/main" id="{B40FFFDB-1CFE-4BBE-8F83-E2E28945CA72}"/>
              </a:ext>
            </a:extLst>
          </p:cNvPr>
          <p:cNvSpPr>
            <a:spLocks xmlns:a="http://schemas.openxmlformats.org/drawingml/2006/main" noGrp="1"/>
          </p:cNvSpPr>
          <p:nvPr/>
        </p:nvSpPr>
        <p:spPr>
          <a:xfrm xmlns:a="http://schemas.openxmlformats.org/drawingml/2006/main">
            <a:off x="4667250" y="2876550"/>
            <a:ext cx="419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9E6276"/>
                </a:solidFill>
                <a:latin typeface="Arial"/>
                <a:ea typeface="Arial"/>
                <a:cs typeface="Arial"/>
              </a:defRPr>
            </a:pPr>
            <a:r>
              <a:rPr sz="975" b="1">
                <a:solidFill>
                  <a:srgbClr val="9E6276"/>
                </a:solidFill>
                <a:latin typeface="Arial"/>
                <a:ea typeface="Arial"/>
                <a:cs typeface="Arial"/>
              </a:rPr>
              <a:t>WHY IT FITS</a:t>
            </a:r>
          </a:p>
        </p:txBody>
      </p:sp>
      <p:sp>
        <p:nvSpPr>
          <p:cNvPr id="8" name="">
            <a:extLst xmlns:a="http://schemas.openxmlformats.org/drawingml/2006/main">
              <a:ext uri="{FF2B5EF4-FFF2-40B4-BE49-F238E27FC236}">
                <a16:creationId xmlns:a16="http://schemas.microsoft.com/office/drawing/2014/main" id="{967A0D44-52F1-473C-A731-9F4EAB65AD3A}"/>
              </a:ext>
            </a:extLst>
          </p:cNvPr>
          <p:cNvSpPr>
            <a:spLocks xmlns:a="http://schemas.openxmlformats.org/drawingml/2006/main" noGrp="1"/>
          </p:cNvSpPr>
          <p:nvPr/>
        </p:nvSpPr>
        <p:spPr>
          <a:xfrm xmlns:a="http://schemas.openxmlformats.org/drawingml/2006/main">
            <a:off x="9525000" y="2876550"/>
            <a:ext cx="2000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9E6276"/>
                </a:solidFill>
                <a:latin typeface="Arial"/>
                <a:ea typeface="Arial"/>
                <a:cs typeface="Arial"/>
              </a:defRPr>
            </a:pPr>
            <a:r>
              <a:rPr sz="975" b="1">
                <a:solidFill>
                  <a:srgbClr val="9E6276"/>
                </a:solidFill>
                <a:latin typeface="Arial"/>
                <a:ea typeface="Arial"/>
                <a:cs typeface="Arial"/>
              </a:rPr>
              <a:t>TIME AND SPACE</a:t>
            </a:r>
          </a:p>
        </p:txBody>
      </p:sp>
      <p:sp>
        <p:nvSpPr>
          <p:cNvPr id="9" name="">
            <a:extLst xmlns:a="http://schemas.openxmlformats.org/drawingml/2006/main">
              <a:ext uri="{FF2B5EF4-FFF2-40B4-BE49-F238E27FC236}">
                <a16:creationId xmlns:a16="http://schemas.microsoft.com/office/drawing/2014/main" id="{A7445922-AEC3-464F-BC43-45A2EB0896DB}"/>
              </a:ext>
            </a:extLst>
          </p:cNvPr>
          <p:cNvSpPr>
            <a:spLocks xmlns:a="http://schemas.openxmlformats.org/drawingml/2006/main" noGrp="1"/>
          </p:cNvSpPr>
          <p:nvPr/>
        </p:nvSpPr>
        <p:spPr>
          <a:xfrm xmlns:a="http://schemas.openxmlformats.org/drawingml/2006/main">
            <a:off x="685800" y="3276600"/>
            <a:ext cx="3571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425" b="1">
                <a:solidFill>
                  <a:srgbClr val="35131F"/>
                </a:solidFill>
                <a:latin typeface="Arial"/>
                <a:ea typeface="Arial"/>
                <a:cs typeface="Arial"/>
              </a:defRPr>
            </a:pPr>
            <a:r>
              <a:rPr sz="1425" b="1">
                <a:solidFill>
                  <a:srgbClr val="35131F"/>
                </a:solidFill>
                <a:latin typeface="Arial"/>
                <a:ea typeface="Arial"/>
                <a:cs typeface="Arial"/>
              </a:rPr>
              <a:t>Binary max-heap</a:t>
            </a:r>
          </a:p>
        </p:txBody>
      </p:sp>
      <p:sp>
        <p:nvSpPr>
          <p:cNvPr id="10" name="">
            <a:extLst xmlns:a="http://schemas.openxmlformats.org/drawingml/2006/main">
              <a:ext uri="{FF2B5EF4-FFF2-40B4-BE49-F238E27FC236}">
                <a16:creationId xmlns:a16="http://schemas.microsoft.com/office/drawing/2014/main" id="{BD22B546-9554-49A8-B4B3-9B2487F899F7}"/>
              </a:ext>
            </a:extLst>
          </p:cNvPr>
          <p:cNvSpPr>
            <a:spLocks xmlns:a="http://schemas.openxmlformats.org/drawingml/2006/main" noGrp="1"/>
          </p:cNvSpPr>
          <p:nvPr/>
        </p:nvSpPr>
        <p:spPr>
          <a:xfrm xmlns:a="http://schemas.openxmlformats.org/drawingml/2006/main">
            <a:off x="4667250" y="3276600"/>
            <a:ext cx="4286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35131F"/>
                </a:solidFill>
                <a:latin typeface="Arial"/>
                <a:ea typeface="Arial"/>
                <a:cs typeface="Arial"/>
              </a:defRPr>
            </a:pPr>
            <a:r>
              <a:rPr sz="1275" b="0">
                <a:solidFill>
                  <a:srgbClr val="35131F"/>
                </a:solidFill>
                <a:latin typeface="Arial"/>
                <a:ea typeface="Arial"/>
                <a:cs typeface="Arial"/>
              </a:rPr>
              <a:t>Repeatedly returns the highest-scoring open incident.</a:t>
            </a:r>
          </a:p>
        </p:txBody>
      </p:sp>
      <p:sp>
        <p:nvSpPr>
          <p:cNvPr id="11" name="">
            <a:extLst xmlns:a="http://schemas.openxmlformats.org/drawingml/2006/main">
              <a:ext uri="{FF2B5EF4-FFF2-40B4-BE49-F238E27FC236}">
                <a16:creationId xmlns:a16="http://schemas.microsoft.com/office/drawing/2014/main" id="{548FDC13-F073-494D-9DDD-50FD407420C2}"/>
              </a:ext>
            </a:extLst>
          </p:cNvPr>
          <p:cNvSpPr>
            <a:spLocks xmlns:a="http://schemas.openxmlformats.org/drawingml/2006/main" noGrp="1"/>
          </p:cNvSpPr>
          <p:nvPr/>
        </p:nvSpPr>
        <p:spPr>
          <a:xfrm xmlns:a="http://schemas.openxmlformats.org/drawingml/2006/main">
            <a:off x="9525000" y="3276600"/>
            <a:ext cx="198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00" b="1">
                <a:solidFill>
                  <a:srgbClr val="35131F"/>
                </a:solidFill>
                <a:latin typeface="Arial"/>
                <a:ea typeface="Arial"/>
                <a:cs typeface="Arial"/>
              </a:defRPr>
            </a:pPr>
            <a:r>
              <a:rPr sz="1200" b="1">
                <a:solidFill>
                  <a:srgbClr val="35131F"/>
                </a:solidFill>
                <a:latin typeface="Arial"/>
                <a:ea typeface="Arial"/>
                <a:cs typeface="Arial"/>
              </a:rPr>
              <a:t>O(I log I) time</a:t>
            </a:r>
          </a:p>
          <a:p xmlns:a="http://schemas.openxmlformats.org/drawingml/2006/main">
            <a:pPr>
              <a:defRPr sz="1200" b="1">
                <a:solidFill>
                  <a:srgbClr val="35131F"/>
                </a:solidFill>
                <a:latin typeface="Arial"/>
                <a:ea typeface="Arial"/>
                <a:cs typeface="Arial"/>
              </a:defRPr>
            </a:pPr>
            <a:r>
              <a:rPr sz="1200" b="1">
                <a:solidFill>
                  <a:srgbClr val="35131F"/>
                </a:solidFill>
                <a:latin typeface="Arial"/>
                <a:ea typeface="Arial"/>
                <a:cs typeface="Arial"/>
              </a:rPr>
              <a:t>O(I) space</a:t>
            </a:r>
          </a:p>
        </p:txBody>
      </p:sp>
      <p:sp>
        <p:nvSpPr>
          <p:cNvPr id="12" name="">
            <a:extLst xmlns:a="http://schemas.openxmlformats.org/drawingml/2006/main">
              <a:ext uri="{FF2B5EF4-FFF2-40B4-BE49-F238E27FC236}">
                <a16:creationId xmlns:a16="http://schemas.microsoft.com/office/drawing/2014/main" id="{A5693CB0-62CF-451B-8101-599E44F3B9F1}"/>
              </a:ext>
            </a:extLst>
          </p:cNvPr>
          <p:cNvSpPr>
            <a:spLocks xmlns:a="http://schemas.openxmlformats.org/drawingml/2006/main" noGrp="1"/>
          </p:cNvSpPr>
          <p:nvPr/>
        </p:nvSpPr>
        <p:spPr>
          <a:xfrm xmlns:a="http://schemas.openxmlformats.org/drawingml/2006/main">
            <a:off x="685800" y="3895725"/>
            <a:ext cx="10820400" cy="9525"/>
          </a:xfrm>
          <a:prstGeom xmlns:a="http://schemas.openxmlformats.org/drawingml/2006/main" prst="rect">
            <a:avLst/>
          </a:prstGeom>
          <a:solidFill xmlns:a="http://schemas.openxmlformats.org/drawingml/2006/main">
            <a:srgbClr val="E4CCD3"/>
          </a:solidFill>
          <a:ln xmlns:a="http://schemas.openxmlformats.org/drawingml/2006/main" w="9525">
            <a:solidFill>
              <a:srgbClr val="E4CCD3"/>
            </a:solidFill>
          </a:ln>
        </p:spPr>
      </p:sp>
      <p:sp>
        <p:nvSpPr>
          <p:cNvPr id="13" name="">
            <a:extLst xmlns:a="http://schemas.openxmlformats.org/drawingml/2006/main">
              <a:ext uri="{FF2B5EF4-FFF2-40B4-BE49-F238E27FC236}">
                <a16:creationId xmlns:a16="http://schemas.microsoft.com/office/drawing/2014/main" id="{788E7258-3250-4D32-ACD5-F5113168E794}"/>
              </a:ext>
            </a:extLst>
          </p:cNvPr>
          <p:cNvSpPr>
            <a:spLocks xmlns:a="http://schemas.openxmlformats.org/drawingml/2006/main" noGrp="1"/>
          </p:cNvSpPr>
          <p:nvPr/>
        </p:nvSpPr>
        <p:spPr>
          <a:xfrm xmlns:a="http://schemas.openxmlformats.org/drawingml/2006/main">
            <a:off x="685800" y="4057650"/>
            <a:ext cx="3571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425" b="1">
                <a:solidFill>
                  <a:srgbClr val="35131F"/>
                </a:solidFill>
                <a:latin typeface="Arial"/>
                <a:ea typeface="Arial"/>
                <a:cs typeface="Arial"/>
              </a:defRPr>
            </a:pPr>
            <a:r>
              <a:rPr sz="1425" b="1">
                <a:solidFill>
                  <a:srgbClr val="35131F"/>
                </a:solidFill>
                <a:latin typeface="Arial"/>
                <a:ea typeface="Arial"/>
                <a:cs typeface="Arial"/>
              </a:rPr>
              <a:t>Breadth-first search</a:t>
            </a:r>
          </a:p>
        </p:txBody>
      </p:sp>
      <p:sp>
        <p:nvSpPr>
          <p:cNvPr id="14" name="">
            <a:extLst xmlns:a="http://schemas.openxmlformats.org/drawingml/2006/main">
              <a:ext uri="{FF2B5EF4-FFF2-40B4-BE49-F238E27FC236}">
                <a16:creationId xmlns:a16="http://schemas.microsoft.com/office/drawing/2014/main" id="{ADCED0D8-0B4C-4A41-95DB-830E2D2B374B}"/>
              </a:ext>
            </a:extLst>
          </p:cNvPr>
          <p:cNvSpPr>
            <a:spLocks xmlns:a="http://schemas.openxmlformats.org/drawingml/2006/main" noGrp="1"/>
          </p:cNvSpPr>
          <p:nvPr/>
        </p:nvSpPr>
        <p:spPr>
          <a:xfrm xmlns:a="http://schemas.openxmlformats.org/drawingml/2006/main">
            <a:off x="4667250" y="4057650"/>
            <a:ext cx="4286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35131F"/>
                </a:solidFill>
                <a:latin typeface="Arial"/>
                <a:ea typeface="Arial"/>
                <a:cs typeface="Arial"/>
              </a:defRPr>
            </a:pPr>
            <a:r>
              <a:rPr sz="1275" b="0">
                <a:solidFill>
                  <a:srgbClr val="35131F"/>
                </a:solidFill>
                <a:latin typeface="Arial"/>
                <a:ea typeface="Arial"/>
                <a:cs typeface="Arial"/>
              </a:rPr>
              <a:t>Explores reachability one link layer at a time.</a:t>
            </a:r>
          </a:p>
        </p:txBody>
      </p:sp>
      <p:sp>
        <p:nvSpPr>
          <p:cNvPr id="15" name="">
            <a:extLst xmlns:a="http://schemas.openxmlformats.org/drawingml/2006/main">
              <a:ext uri="{FF2B5EF4-FFF2-40B4-BE49-F238E27FC236}">
                <a16:creationId xmlns:a16="http://schemas.microsoft.com/office/drawing/2014/main" id="{44C3A807-412F-4692-A42F-58604B421928}"/>
              </a:ext>
            </a:extLst>
          </p:cNvPr>
          <p:cNvSpPr>
            <a:spLocks xmlns:a="http://schemas.openxmlformats.org/drawingml/2006/main" noGrp="1"/>
          </p:cNvSpPr>
          <p:nvPr/>
        </p:nvSpPr>
        <p:spPr>
          <a:xfrm xmlns:a="http://schemas.openxmlformats.org/drawingml/2006/main">
            <a:off x="9525000" y="4057650"/>
            <a:ext cx="198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00" b="1">
                <a:solidFill>
                  <a:srgbClr val="35131F"/>
                </a:solidFill>
                <a:latin typeface="Arial"/>
                <a:ea typeface="Arial"/>
                <a:cs typeface="Arial"/>
              </a:defRPr>
            </a:pPr>
            <a:r>
              <a:rPr sz="1200" b="1">
                <a:solidFill>
                  <a:srgbClr val="35131F"/>
                </a:solidFill>
                <a:latin typeface="Arial"/>
                <a:ea typeface="Arial"/>
                <a:cs typeface="Arial"/>
              </a:rPr>
              <a:t>O(V + E) time</a:t>
            </a:r>
          </a:p>
          <a:p xmlns:a="http://schemas.openxmlformats.org/drawingml/2006/main">
            <a:pPr>
              <a:defRPr sz="1200" b="1">
                <a:solidFill>
                  <a:srgbClr val="35131F"/>
                </a:solidFill>
                <a:latin typeface="Arial"/>
                <a:ea typeface="Arial"/>
                <a:cs typeface="Arial"/>
              </a:defRPr>
            </a:pPr>
            <a:r>
              <a:rPr sz="1200" b="1">
                <a:solidFill>
                  <a:srgbClr val="35131F"/>
                </a:solidFill>
                <a:latin typeface="Arial"/>
                <a:ea typeface="Arial"/>
                <a:cs typeface="Arial"/>
              </a:rPr>
              <a:t>O(V + E) space</a:t>
            </a:r>
          </a:p>
        </p:txBody>
      </p:sp>
      <p:sp>
        <p:nvSpPr>
          <p:cNvPr id="16" name="">
            <a:extLst xmlns:a="http://schemas.openxmlformats.org/drawingml/2006/main">
              <a:ext uri="{FF2B5EF4-FFF2-40B4-BE49-F238E27FC236}">
                <a16:creationId xmlns:a16="http://schemas.microsoft.com/office/drawing/2014/main" id="{81B4E2A4-A9E9-43BC-8CE6-295969F20664}"/>
              </a:ext>
            </a:extLst>
          </p:cNvPr>
          <p:cNvSpPr>
            <a:spLocks xmlns:a="http://schemas.openxmlformats.org/drawingml/2006/main" noGrp="1"/>
          </p:cNvSpPr>
          <p:nvPr/>
        </p:nvSpPr>
        <p:spPr>
          <a:xfrm xmlns:a="http://schemas.openxmlformats.org/drawingml/2006/main">
            <a:off x="685800" y="4676775"/>
            <a:ext cx="10820400" cy="9525"/>
          </a:xfrm>
          <a:prstGeom xmlns:a="http://schemas.openxmlformats.org/drawingml/2006/main" prst="rect">
            <a:avLst/>
          </a:prstGeom>
          <a:solidFill xmlns:a="http://schemas.openxmlformats.org/drawingml/2006/main">
            <a:srgbClr val="E4CCD3"/>
          </a:solidFill>
          <a:ln xmlns:a="http://schemas.openxmlformats.org/drawingml/2006/main" w="9525">
            <a:solidFill>
              <a:srgbClr val="E4CCD3"/>
            </a:solidFill>
          </a:ln>
        </p:spPr>
      </p:sp>
      <p:sp>
        <p:nvSpPr>
          <p:cNvPr id="17" name="">
            <a:extLst xmlns:a="http://schemas.openxmlformats.org/drawingml/2006/main">
              <a:ext uri="{FF2B5EF4-FFF2-40B4-BE49-F238E27FC236}">
                <a16:creationId xmlns:a16="http://schemas.microsoft.com/office/drawing/2014/main" id="{83D3ADF4-9D87-4926-9099-BD282A0055CB}"/>
              </a:ext>
            </a:extLst>
          </p:cNvPr>
          <p:cNvSpPr>
            <a:spLocks xmlns:a="http://schemas.openxmlformats.org/drawingml/2006/main" noGrp="1"/>
          </p:cNvSpPr>
          <p:nvPr/>
        </p:nvSpPr>
        <p:spPr>
          <a:xfrm xmlns:a="http://schemas.openxmlformats.org/drawingml/2006/main">
            <a:off x="685800" y="4838700"/>
            <a:ext cx="3571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425" b="1">
                <a:solidFill>
                  <a:srgbClr val="35131F"/>
                </a:solidFill>
                <a:latin typeface="Arial"/>
                <a:ea typeface="Arial"/>
                <a:cs typeface="Arial"/>
              </a:defRPr>
            </a:pPr>
            <a:r>
              <a:rPr sz="1425" b="1">
                <a:solidFill>
                  <a:srgbClr val="35131F"/>
                </a:solidFill>
                <a:latin typeface="Arial"/>
                <a:ea typeface="Arial"/>
                <a:cs typeface="Arial"/>
              </a:rPr>
              <a:t>Dijkstra with binary heap</a:t>
            </a:r>
          </a:p>
        </p:txBody>
      </p:sp>
      <p:sp>
        <p:nvSpPr>
          <p:cNvPr id="18" name="">
            <a:extLst xmlns:a="http://schemas.openxmlformats.org/drawingml/2006/main">
              <a:ext uri="{FF2B5EF4-FFF2-40B4-BE49-F238E27FC236}">
                <a16:creationId xmlns:a16="http://schemas.microsoft.com/office/drawing/2014/main" id="{31B2262C-8EC7-4FC2-A0A8-3DBFEC018E73}"/>
              </a:ext>
            </a:extLst>
          </p:cNvPr>
          <p:cNvSpPr>
            <a:spLocks xmlns:a="http://schemas.openxmlformats.org/drawingml/2006/main" noGrp="1"/>
          </p:cNvSpPr>
          <p:nvPr/>
        </p:nvSpPr>
        <p:spPr>
          <a:xfrm xmlns:a="http://schemas.openxmlformats.org/drawingml/2006/main">
            <a:off x="4667250" y="4838700"/>
            <a:ext cx="4286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35131F"/>
                </a:solidFill>
                <a:latin typeface="Arial"/>
                <a:ea typeface="Arial"/>
                <a:cs typeface="Arial"/>
              </a:defRPr>
            </a:pPr>
            <a:r>
              <a:rPr sz="1275" b="0">
                <a:solidFill>
                  <a:srgbClr val="35131F"/>
                </a:solidFill>
                <a:latin typeface="Arial"/>
                <a:ea typeface="Arial"/>
                <a:cs typeface="Arial"/>
              </a:rPr>
              <a:t>Finds the minimum sum of positive link estimates.</a:t>
            </a:r>
          </a:p>
        </p:txBody>
      </p:sp>
      <p:sp>
        <p:nvSpPr>
          <p:cNvPr id="19" name="">
            <a:extLst xmlns:a="http://schemas.openxmlformats.org/drawingml/2006/main">
              <a:ext uri="{FF2B5EF4-FFF2-40B4-BE49-F238E27FC236}">
                <a16:creationId xmlns:a16="http://schemas.microsoft.com/office/drawing/2014/main" id="{1267C86F-DE5D-428B-8E80-FE4968207CA3}"/>
              </a:ext>
            </a:extLst>
          </p:cNvPr>
          <p:cNvSpPr>
            <a:spLocks xmlns:a="http://schemas.openxmlformats.org/drawingml/2006/main" noGrp="1"/>
          </p:cNvSpPr>
          <p:nvPr/>
        </p:nvSpPr>
        <p:spPr>
          <a:xfrm xmlns:a="http://schemas.openxmlformats.org/drawingml/2006/main">
            <a:off x="9525000" y="4838700"/>
            <a:ext cx="198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00" b="1">
                <a:solidFill>
                  <a:srgbClr val="35131F"/>
                </a:solidFill>
                <a:latin typeface="Arial"/>
                <a:ea typeface="Arial"/>
                <a:cs typeface="Arial"/>
              </a:defRPr>
            </a:pPr>
            <a:r>
              <a:rPr sz="1200" b="1">
                <a:solidFill>
                  <a:srgbClr val="35131F"/>
                </a:solidFill>
                <a:latin typeface="Arial"/>
                <a:ea typeface="Arial"/>
                <a:cs typeface="Arial"/>
              </a:rPr>
              <a:t>O((V + E) log V) time</a:t>
            </a:r>
          </a:p>
          <a:p xmlns:a="http://schemas.openxmlformats.org/drawingml/2006/main">
            <a:pPr>
              <a:defRPr sz="1200" b="1">
                <a:solidFill>
                  <a:srgbClr val="35131F"/>
                </a:solidFill>
                <a:latin typeface="Arial"/>
                <a:ea typeface="Arial"/>
                <a:cs typeface="Arial"/>
              </a:defRPr>
            </a:pPr>
            <a:r>
              <a:rPr sz="1200" b="1">
                <a:solidFill>
                  <a:srgbClr val="35131F"/>
                </a:solidFill>
                <a:latin typeface="Arial"/>
                <a:ea typeface="Arial"/>
                <a:cs typeface="Arial"/>
              </a:rPr>
              <a:t>O(V + E) space</a:t>
            </a:r>
          </a:p>
        </p:txBody>
      </p:sp>
      <p:sp>
        <p:nvSpPr>
          <p:cNvPr id="20" name="">
            <a:extLst xmlns:a="http://schemas.openxmlformats.org/drawingml/2006/main">
              <a:ext uri="{FF2B5EF4-FFF2-40B4-BE49-F238E27FC236}">
                <a16:creationId xmlns:a16="http://schemas.microsoft.com/office/drawing/2014/main" id="{8ADC3E34-CCB5-4662-976B-FCEC524002B3}"/>
              </a:ext>
            </a:extLst>
          </p:cNvPr>
          <p:cNvSpPr>
            <a:spLocks xmlns:a="http://schemas.openxmlformats.org/drawingml/2006/main" noGrp="1"/>
          </p:cNvSpPr>
          <p:nvPr/>
        </p:nvSpPr>
        <p:spPr>
          <a:xfrm xmlns:a="http://schemas.openxmlformats.org/drawingml/2006/main">
            <a:off x="685800" y="5457825"/>
            <a:ext cx="10820400" cy="9525"/>
          </a:xfrm>
          <a:prstGeom xmlns:a="http://schemas.openxmlformats.org/drawingml/2006/main" prst="rect">
            <a:avLst/>
          </a:prstGeom>
          <a:solidFill xmlns:a="http://schemas.openxmlformats.org/drawingml/2006/main">
            <a:srgbClr val="E4CCD3"/>
          </a:solidFill>
          <a:ln xmlns:a="http://schemas.openxmlformats.org/drawingml/2006/main" w="9525">
            <a:solidFill>
              <a:srgbClr val="E4CCD3"/>
            </a:solidFill>
          </a:ln>
        </p:spPr>
      </p:sp>
      <p:sp>
        <p:nvSpPr>
          <p:cNvPr id="21" name="">
            <a:extLst xmlns:a="http://schemas.openxmlformats.org/drawingml/2006/main">
              <a:ext uri="{FF2B5EF4-FFF2-40B4-BE49-F238E27FC236}">
                <a16:creationId xmlns:a16="http://schemas.microsoft.com/office/drawing/2014/main" id="{CF8B32D3-A229-403B-9BDA-4CE32AC4F684}"/>
              </a:ext>
            </a:extLst>
          </p:cNvPr>
          <p:cNvSpPr>
            <a:spLocks xmlns:a="http://schemas.openxmlformats.org/drawingml/2006/main" noGrp="1"/>
          </p:cNvSpPr>
          <p:nvPr/>
        </p:nvSpPr>
        <p:spPr>
          <a:xfrm xmlns:a="http://schemas.openxmlformats.org/drawingml/2006/main">
            <a:off x="685800" y="57531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defRPr sz="1050" b="0">
                <a:solidFill>
                  <a:srgbClr val="826A73"/>
                </a:solidFill>
                <a:latin typeface="Arial"/>
                <a:ea typeface="Arial"/>
                <a:cs typeface="Arial"/>
              </a:defRPr>
            </a:pPr>
            <a:r>
              <a:rPr sz="1050" b="0">
                <a:solidFill>
                  <a:srgbClr val="826A73"/>
                </a:solidFill>
                <a:latin typeface="Arial"/>
                <a:ea typeface="Arial"/>
                <a:cs typeface="Arial"/>
              </a:rPr>
              <a:t>I = open incidents. V = modeled systems including the isolation gateway. E = network links.</a:t>
            </a:r>
          </a:p>
        </p:txBody>
      </p:sp>
      <p:sp>
        <p:nvSpPr>
          <p:cNvPr id="22" name="">
            <a:extLst xmlns:a="http://schemas.openxmlformats.org/drawingml/2006/main">
              <a:ext uri="{FF2B5EF4-FFF2-40B4-BE49-F238E27FC236}">
                <a16:creationId xmlns:a16="http://schemas.microsoft.com/office/drawing/2014/main" id="{D9F3EC4D-E444-4F43-A4EA-0EA4B0F0DC38}"/>
              </a:ext>
            </a:extLst>
          </p:cNvPr>
          <p:cNvSpPr>
            <a:spLocks xmlns:a="http://schemas.openxmlformats.org/drawingml/2006/main" noGrp="1"/>
          </p:cNvSpPr>
          <p:nvPr/>
        </p:nvSpPr>
        <p:spPr>
          <a:xfrm xmlns:a="http://schemas.openxmlformats.org/drawingml/2006/main">
            <a:off x="8858250" y="5753100"/>
            <a:ext cx="2647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defRPr sz="1050" b="1">
                <a:solidFill>
                  <a:srgbClr val="8F354F"/>
                </a:solidFill>
                <a:latin typeface="Arial"/>
                <a:ea typeface="Arial"/>
                <a:cs typeface="Arial"/>
              </a:defRPr>
            </a:pPr>
            <a:r>
              <a:rPr sz="1050" b="1">
                <a:solidFill>
                  <a:srgbClr val="8F354F"/>
                </a:solidFill>
                <a:latin typeface="Arial"/>
                <a:ea typeface="Arial"/>
                <a:cs typeface="Arial"/>
              </a:rPr>
              <a:t>No Express API or MongoDB yet.</a:t>
            </a:r>
          </a:p>
        </p:txBody>
      </p:sp>
      <p:sp>
        <p:nvSpPr>
          <p:cNvPr id="23" name="">
            <a:extLst xmlns:a="http://schemas.openxmlformats.org/drawingml/2006/main">
              <a:ext uri="{FF2B5EF4-FFF2-40B4-BE49-F238E27FC236}">
                <a16:creationId xmlns:a16="http://schemas.microsoft.com/office/drawing/2014/main" id="{C048FEE8-DD9F-4A0D-A1E5-5CF71DA3EC44}"/>
              </a:ext>
            </a:extLst>
          </p:cNvPr>
          <p:cNvSpPr>
            <a:spLocks xmlns:a="http://schemas.openxmlformats.org/drawingml/2006/main" noGrp="1"/>
          </p:cNvSpPr>
          <p:nvPr/>
        </p:nvSpPr>
        <p:spPr>
          <a:xfrm xmlns:a="http://schemas.openxmlformats.org/drawingml/2006/main">
            <a:off x="685800" y="6486525"/>
            <a:ext cx="838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222"/>
          </a:bodyPr>
          <a:lstStyle xmlns:a="http://schemas.openxmlformats.org/drawingml/2006/main"/>
          <a:p xmlns:a="http://schemas.openxmlformats.org/drawingml/2006/main">
            <a:pPr>
              <a:defRPr sz="900" b="1">
                <a:solidFill>
                  <a:srgbClr val="826A73"/>
                </a:solidFill>
                <a:latin typeface="Arial"/>
                <a:ea typeface="Arial"/>
                <a:cs typeface="Arial"/>
              </a:defRPr>
            </a:pPr>
            <a:r>
              <a:rPr sz="900" b="1">
                <a:solidFill>
                  <a:srgbClr val="826A73"/>
                </a:solidFill>
                <a:latin typeface="Arial"/>
                <a:ea typeface="Arial"/>
                <a:cs typeface="Arial"/>
              </a:rPr>
              <a:t>PROBLEM 92    CYBER INCIDENT RESPONSE PLANNER</a:t>
            </a:r>
          </a:p>
        </p:txBody>
      </p:sp>
      <p:sp>
        <p:nvSpPr>
          <p:cNvPr id="24" name="">
            <a:extLst xmlns:a="http://schemas.openxmlformats.org/drawingml/2006/main">
              <a:ext uri="{FF2B5EF4-FFF2-40B4-BE49-F238E27FC236}">
                <a16:creationId xmlns:a16="http://schemas.microsoft.com/office/drawing/2014/main" id="{84EA6F5A-A487-4C34-B688-0D0F8171D005}"/>
              </a:ext>
            </a:extLst>
          </p:cNvPr>
          <p:cNvSpPr>
            <a:spLocks xmlns:a="http://schemas.openxmlformats.org/drawingml/2006/main" noGrp="1"/>
          </p:cNvSpPr>
          <p:nvPr/>
        </p:nvSpPr>
        <p:spPr>
          <a:xfrm xmlns:a="http://schemas.openxmlformats.org/drawingml/2006/main">
            <a:off x="10668000" y="6486525"/>
            <a:ext cx="838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222"/>
          </a:bodyPr>
          <a:lstStyle xmlns:a="http://schemas.openxmlformats.org/drawingml/2006/main"/>
          <a:p xmlns:a="http://schemas.openxmlformats.org/drawingml/2006/main">
            <a:pPr>
              <a:defRPr sz="900" b="1">
                <a:solidFill>
                  <a:srgbClr val="826A73"/>
                </a:solidFill>
                <a:latin typeface="Arial"/>
                <a:ea typeface="Arial"/>
                <a:cs typeface="Arial"/>
              </a:defRPr>
            </a:pPr>
            <a:r>
              <a:rPr sz="900" b="1">
                <a:solidFill>
                  <a:srgbClr val="826A73"/>
                </a:solidFill>
                <a:latin typeface="Arial"/>
                <a:ea typeface="Arial"/>
                <a:cs typeface="Arial"/>
              </a:rPr>
              <a:t>05 / 07</a:t>
            </a:r>
          </a:p>
        </p:txBody>
      </p:sp>
    </p:spTree>
    <p:extLst>
      <p:ext uri="{BB962C8B-B14F-4D97-AF65-F5344CB8AC3E}">
        <p14:creationId xmlns:p14="http://schemas.microsoft.com/office/powerpoint/2010/main" val="919087004"/>
      </p:ext>
    </p:extLst>
  </p:cSld>
</p:sld>
</file>

<file path=ppt/slides/slide6.xml><?xml version="1.0" encoding="utf-8"?>
<p:sld xmlns:p="http://schemas.openxmlformats.org/presentationml/2006/main">
  <p:cSld>
    <p:bg>
      <p:bgPr>
        <a:solidFill xmlns:a="http://schemas.openxmlformats.org/drawingml/2006/main">
          <a:srgbClr val="F7EEF1"/>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3D567EA2-5479-42B0-92D2-6D3A7FD9ABDA}"/>
              </a:ext>
            </a:extLst>
          </p:cNvPr>
          <p:cNvSpPr>
            <a:spLocks xmlns:a="http://schemas.openxmlformats.org/drawingml/2006/main" noGrp="1"/>
          </p:cNvSpPr>
          <p:nvPr/>
        </p:nvSpPr>
        <p:spPr>
          <a:xfrm xmlns:a="http://schemas.openxmlformats.org/drawingml/2006/main">
            <a:off x="685800" y="400050"/>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9487"/>
          </a:bodyPr>
          <a:lstStyle xmlns:a="http://schemas.openxmlformats.org/drawingml/2006/main"/>
          <a:p xmlns:a="http://schemas.openxmlformats.org/drawingml/2006/main">
            <a:pPr>
              <a:defRPr sz="975" b="1">
                <a:solidFill>
                  <a:srgbClr val="8F354F"/>
                </a:solidFill>
                <a:latin typeface="Arial"/>
                <a:ea typeface="Arial"/>
                <a:cs typeface="Arial"/>
              </a:defRPr>
            </a:pPr>
            <a:r>
              <a:rPr sz="975" b="1">
                <a:solidFill>
                  <a:srgbClr val="8F354F"/>
                </a:solidFill>
                <a:latin typeface="Arial"/>
                <a:ea typeface="Arial"/>
                <a:cs typeface="Arial"/>
              </a:rPr>
              <a:t>DEMO &amp; IMPACT</a:t>
            </a:r>
          </a:p>
        </p:txBody>
      </p:sp>
      <p:sp>
        <p:nvSpPr>
          <p:cNvPr id="2" name="">
            <a:extLst xmlns:a="http://schemas.openxmlformats.org/drawingml/2006/main">
              <a:ext uri="{FF2B5EF4-FFF2-40B4-BE49-F238E27FC236}">
                <a16:creationId xmlns:a16="http://schemas.microsoft.com/office/drawing/2014/main" id="{5483BDA7-F8C3-4134-B36F-015AC37CD601}"/>
              </a:ext>
            </a:extLst>
          </p:cNvPr>
          <p:cNvSpPr>
            <a:spLocks xmlns:a="http://schemas.openxmlformats.org/drawingml/2006/main" noGrp="1"/>
          </p:cNvSpPr>
          <p:nvPr/>
        </p:nvSpPr>
        <p:spPr>
          <a:xfrm xmlns:a="http://schemas.openxmlformats.org/drawingml/2006/main">
            <a:off x="685800" y="742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150" b="1">
                <a:solidFill>
                  <a:srgbClr val="35131F"/>
                </a:solidFill>
                <a:latin typeface="Arial"/>
                <a:ea typeface="Arial"/>
                <a:cs typeface="Arial"/>
              </a:defRPr>
            </a:pPr>
            <a:r>
              <a:rPr sz="3150" b="1">
                <a:solidFill>
                  <a:srgbClr val="35131F"/>
                </a:solidFill>
                <a:latin typeface="Arial"/>
                <a:ea typeface="Arial"/>
                <a:cs typeface="Arial"/>
              </a:rPr>
              <a:t>A sample output from the working planner.</a:t>
            </a:r>
          </a:p>
        </p:txBody>
      </p:sp>
      <p:sp>
        <p:nvSpPr>
          <p:cNvPr id="3" name="">
            <a:extLst xmlns:a="http://schemas.openxmlformats.org/drawingml/2006/main">
              <a:ext uri="{FF2B5EF4-FFF2-40B4-BE49-F238E27FC236}">
                <a16:creationId xmlns:a16="http://schemas.microsoft.com/office/drawing/2014/main" id="{EC8AD6F6-0F8B-452D-971C-FDE47A02BCAC}"/>
              </a:ext>
            </a:extLst>
          </p:cNvPr>
          <p:cNvSpPr>
            <a:spLocks xmlns:a="http://schemas.openxmlformats.org/drawingml/2006/main" noGrp="1"/>
          </p:cNvSpPr>
          <p:nvPr/>
        </p:nvSpPr>
        <p:spPr>
          <a:xfrm xmlns:a="http://schemas.openxmlformats.org/drawingml/2006/main">
            <a:off x="685800" y="1562100"/>
            <a:ext cx="10820400" cy="9525"/>
          </a:xfrm>
          <a:prstGeom xmlns:a="http://schemas.openxmlformats.org/drawingml/2006/main" prst="rect">
            <a:avLst/>
          </a:prstGeom>
          <a:solidFill xmlns:a="http://schemas.openxmlformats.org/drawingml/2006/main">
            <a:srgbClr val="E4CCD3"/>
          </a:solidFill>
          <a:ln xmlns:a="http://schemas.openxmlformats.org/drawingml/2006/main" w="9525">
            <a:solidFill>
              <a:srgbClr val="E4CCD3"/>
            </a:solidFill>
          </a:ln>
        </p:spPr>
      </p:sp>
      <p:sp>
        <p:nvSpPr>
          <p:cNvPr id="4" name="">
            <a:extLst xmlns:a="http://schemas.openxmlformats.org/drawingml/2006/main">
              <a:ext uri="{FF2B5EF4-FFF2-40B4-BE49-F238E27FC236}">
                <a16:creationId xmlns:a16="http://schemas.microsoft.com/office/drawing/2014/main" id="{E682D2B1-0ABA-4F17-AED1-D3CDEF5EEBC8}"/>
              </a:ext>
            </a:extLst>
          </p:cNvPr>
          <p:cNvSpPr>
            <a:spLocks xmlns:a="http://schemas.openxmlformats.org/drawingml/2006/main" noGrp="1"/>
          </p:cNvSpPr>
          <p:nvPr/>
        </p:nvSpPr>
        <p:spPr>
          <a:xfrm xmlns:a="http://schemas.openxmlformats.org/drawingml/2006/main">
            <a:off x="685800" y="1790700"/>
            <a:ext cx="590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0">
                <a:solidFill>
                  <a:srgbClr val="826A73"/>
                </a:solidFill>
                <a:latin typeface="Arial"/>
                <a:ea typeface="Arial"/>
                <a:cs typeface="Arial"/>
              </a:defRPr>
            </a:pPr>
            <a:r>
              <a:rPr sz="1500" b="0">
                <a:solidFill>
                  <a:srgbClr val="826A73"/>
                </a:solidFill>
                <a:latin typeface="Arial"/>
                <a:ea typeface="Arial"/>
                <a:cs typeface="Arial"/>
              </a:rPr>
              <a:t>The local demo starts with fictional data.</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f37b98326b3e4cd3"/>
          <a:srcRect xmlns:a="http://schemas.openxmlformats.org/drawingml/2006/main" l="2000" t="33700" r="49000" b="11000"/>
          <a:stretch xmlns:a="http://schemas.openxmlformats.org/drawingml/2006/main"/>
        </p:blipFill>
        <p:spPr>
          <a:xfrm xmlns:a="http://schemas.openxmlformats.org/drawingml/2006/main">
            <a:off x="685800" y="2324100"/>
            <a:ext cx="4762500" cy="3810000"/>
          </a:xfrm>
          <a:prstGeom xmlns:a="http://schemas.openxmlformats.org/drawingml/2006/main" prst="roundRect">
            <a:avLst>
              <a:gd name="adj" fmla="val 3000"/>
            </a:avLst>
          </a:prstGeom>
        </p:spPr>
      </p:pic>
      <p:sp>
        <p:nvSpPr>
          <p:cNvPr id="6" name="">
            <a:extLst xmlns:a="http://schemas.openxmlformats.org/drawingml/2006/main">
              <a:ext uri="{FF2B5EF4-FFF2-40B4-BE49-F238E27FC236}">
                <a16:creationId xmlns:a16="http://schemas.microsoft.com/office/drawing/2014/main" id="{100A4F6F-68BD-4091-9237-8010C4E80C89}"/>
              </a:ext>
            </a:extLst>
          </p:cNvPr>
          <p:cNvSpPr>
            <a:spLocks xmlns:a="http://schemas.openxmlformats.org/drawingml/2006/main" noGrp="1"/>
          </p:cNvSpPr>
          <p:nvPr/>
        </p:nvSpPr>
        <p:spPr>
          <a:xfrm xmlns:a="http://schemas.openxmlformats.org/drawingml/2006/main">
            <a:off x="6019800" y="2000250"/>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8F354F"/>
                </a:solidFill>
                <a:latin typeface="Arial"/>
                <a:ea typeface="Arial"/>
                <a:cs typeface="Arial"/>
              </a:defRPr>
            </a:pPr>
            <a:r>
              <a:rPr sz="975" b="1">
                <a:solidFill>
                  <a:srgbClr val="8F354F"/>
                </a:solidFill>
                <a:latin typeface="Arial"/>
                <a:ea typeface="Arial"/>
                <a:cs typeface="Arial"/>
              </a:rPr>
              <a:t>TOP ALERT</a:t>
            </a:r>
          </a:p>
        </p:txBody>
      </p:sp>
      <p:sp>
        <p:nvSpPr>
          <p:cNvPr id="7" name="">
            <a:extLst xmlns:a="http://schemas.openxmlformats.org/drawingml/2006/main">
              <a:ext uri="{FF2B5EF4-FFF2-40B4-BE49-F238E27FC236}">
                <a16:creationId xmlns:a16="http://schemas.microsoft.com/office/drawing/2014/main" id="{CFBC9157-BD01-43ED-8F41-6C7962FB34CB}"/>
              </a:ext>
            </a:extLst>
          </p:cNvPr>
          <p:cNvSpPr>
            <a:spLocks xmlns:a="http://schemas.openxmlformats.org/drawingml/2006/main" noGrp="1"/>
          </p:cNvSpPr>
          <p:nvPr/>
        </p:nvSpPr>
        <p:spPr>
          <a:xfrm xmlns:a="http://schemas.openxmlformats.org/drawingml/2006/main">
            <a:off x="6019800" y="2295525"/>
            <a:ext cx="285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333"/>
          </a:bodyPr>
          <a:lstStyle xmlns:a="http://schemas.openxmlformats.org/drawingml/2006/main"/>
          <a:p xmlns:a="http://schemas.openxmlformats.org/drawingml/2006/main">
            <a:pPr>
              <a:defRPr sz="3750" b="1">
                <a:solidFill>
                  <a:srgbClr val="8F354F"/>
                </a:solidFill>
                <a:latin typeface="Arial"/>
                <a:ea typeface="Arial"/>
                <a:cs typeface="Arial"/>
              </a:defRPr>
            </a:pPr>
            <a:r>
              <a:rPr sz="3750" b="1">
                <a:solidFill>
                  <a:srgbClr val="8F354F"/>
                </a:solidFill>
                <a:latin typeface="Arial"/>
                <a:ea typeface="Arial"/>
                <a:cs typeface="Arial"/>
              </a:rPr>
              <a:t>92 / 100</a:t>
            </a:r>
          </a:p>
        </p:txBody>
      </p:sp>
      <p:sp>
        <p:nvSpPr>
          <p:cNvPr id="8" name="">
            <a:extLst xmlns:a="http://schemas.openxmlformats.org/drawingml/2006/main">
              <a:ext uri="{FF2B5EF4-FFF2-40B4-BE49-F238E27FC236}">
                <a16:creationId xmlns:a16="http://schemas.microsoft.com/office/drawing/2014/main" id="{F035C605-DD7E-4E24-8190-5296CADBB56C}"/>
              </a:ext>
            </a:extLst>
          </p:cNvPr>
          <p:cNvSpPr>
            <a:spLocks xmlns:a="http://schemas.openxmlformats.org/drawingml/2006/main" noGrp="1"/>
          </p:cNvSpPr>
          <p:nvPr/>
        </p:nvSpPr>
        <p:spPr>
          <a:xfrm xmlns:a="http://schemas.openxmlformats.org/drawingml/2006/main">
            <a:off x="6019800" y="2981325"/>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1">
                <a:solidFill>
                  <a:srgbClr val="35131F"/>
                </a:solidFill>
                <a:latin typeface="Arial"/>
                <a:ea typeface="Arial"/>
                <a:cs typeface="Arial"/>
              </a:defRPr>
            </a:pPr>
            <a:r>
              <a:rPr sz="1350" b="1">
                <a:solidFill>
                  <a:srgbClr val="35131F"/>
                </a:solidFill>
                <a:latin typeface="Arial"/>
                <a:ea typeface="Arial"/>
                <a:cs typeface="Arial"/>
              </a:rPr>
              <a:t>Suspicious session token</a:t>
            </a:r>
          </a:p>
          <a:p xmlns:a="http://schemas.openxmlformats.org/drawingml/2006/main">
            <a:pPr>
              <a:defRPr sz="1350" b="1">
                <a:solidFill>
                  <a:srgbClr val="35131F"/>
                </a:solidFill>
                <a:latin typeface="Arial"/>
                <a:ea typeface="Arial"/>
                <a:cs typeface="Arial"/>
              </a:defRPr>
            </a:pPr>
            <a:r>
              <a:rPr sz="1350" b="1">
                <a:solidFill>
                  <a:srgbClr val="35131F"/>
                </a:solidFill>
                <a:latin typeface="Arial"/>
                <a:ea typeface="Arial"/>
                <a:cs typeface="Arial"/>
              </a:rPr>
              <a:t>Affected system: Identity service</a:t>
            </a:r>
          </a:p>
        </p:txBody>
      </p:sp>
      <p:sp>
        <p:nvSpPr>
          <p:cNvPr id="9" name="">
            <a:extLst xmlns:a="http://schemas.openxmlformats.org/drawingml/2006/main">
              <a:ext uri="{FF2B5EF4-FFF2-40B4-BE49-F238E27FC236}">
                <a16:creationId xmlns:a16="http://schemas.microsoft.com/office/drawing/2014/main" id="{5430311A-16B7-4377-8397-78B0B8795D34}"/>
              </a:ext>
            </a:extLst>
          </p:cNvPr>
          <p:cNvSpPr>
            <a:spLocks xmlns:a="http://schemas.openxmlformats.org/drawingml/2006/main" noGrp="1"/>
          </p:cNvSpPr>
          <p:nvPr/>
        </p:nvSpPr>
        <p:spPr>
          <a:xfrm xmlns:a="http://schemas.openxmlformats.org/drawingml/2006/main">
            <a:off x="6019800" y="3676650"/>
            <a:ext cx="5181600" cy="9525"/>
          </a:xfrm>
          <a:prstGeom xmlns:a="http://schemas.openxmlformats.org/drawingml/2006/main" prst="rect">
            <a:avLst/>
          </a:prstGeom>
          <a:solidFill xmlns:a="http://schemas.openxmlformats.org/drawingml/2006/main">
            <a:srgbClr val="E4CCD3"/>
          </a:solidFill>
          <a:ln xmlns:a="http://schemas.openxmlformats.org/drawingml/2006/main" w="9525">
            <a:solidFill>
              <a:srgbClr val="E4CCD3"/>
            </a:solidFill>
          </a:ln>
        </p:spPr>
      </p:sp>
      <p:sp>
        <p:nvSpPr>
          <p:cNvPr id="10" name="">
            <a:extLst xmlns:a="http://schemas.openxmlformats.org/drawingml/2006/main">
              <a:ext uri="{FF2B5EF4-FFF2-40B4-BE49-F238E27FC236}">
                <a16:creationId xmlns:a16="http://schemas.microsoft.com/office/drawing/2014/main" id="{63CD346D-D7BF-42F8-9117-51D3007898E3}"/>
              </a:ext>
            </a:extLst>
          </p:cNvPr>
          <p:cNvSpPr>
            <a:spLocks xmlns:a="http://schemas.openxmlformats.org/drawingml/2006/main" noGrp="1"/>
          </p:cNvSpPr>
          <p:nvPr/>
        </p:nvSpPr>
        <p:spPr>
          <a:xfrm xmlns:a="http://schemas.openxmlformats.org/drawingml/2006/main">
            <a:off x="6019800" y="3857625"/>
            <a:ext cx="3333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9E6276"/>
                </a:solidFill>
                <a:latin typeface="Arial"/>
                <a:ea typeface="Arial"/>
                <a:cs typeface="Arial"/>
              </a:defRPr>
            </a:pPr>
            <a:r>
              <a:rPr sz="975" b="1">
                <a:solidFill>
                  <a:srgbClr val="9E6276"/>
                </a:solidFill>
                <a:latin typeface="Arial"/>
                <a:ea typeface="Arial"/>
                <a:cs typeface="Arial"/>
              </a:rPr>
              <a:t>ROUTE COMPARISON</a:t>
            </a:r>
          </a:p>
        </p:txBody>
      </p:sp>
      <p:sp>
        <p:nvSpPr>
          <p:cNvPr id="11" name="">
            <a:extLst xmlns:a="http://schemas.openxmlformats.org/drawingml/2006/main">
              <a:ext uri="{FF2B5EF4-FFF2-40B4-BE49-F238E27FC236}">
                <a16:creationId xmlns:a16="http://schemas.microsoft.com/office/drawing/2014/main" id="{86231D8D-5FA5-4E48-949E-1F987916AE36}"/>
              </a:ext>
            </a:extLst>
          </p:cNvPr>
          <p:cNvSpPr>
            <a:spLocks xmlns:a="http://schemas.openxmlformats.org/drawingml/2006/main" noGrp="1"/>
          </p:cNvSpPr>
          <p:nvPr/>
        </p:nvSpPr>
        <p:spPr>
          <a:xfrm xmlns:a="http://schemas.openxmlformats.org/drawingml/2006/main">
            <a:off x="6019800" y="4191000"/>
            <a:ext cx="2333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185"/>
          </a:bodyPr>
          <a:lstStyle xmlns:a="http://schemas.openxmlformats.org/drawingml/2006/main"/>
          <a:p xmlns:a="http://schemas.openxmlformats.org/drawingml/2006/main">
            <a:pPr>
              <a:defRPr sz="1350" b="1">
                <a:solidFill>
                  <a:srgbClr val="35131F"/>
                </a:solidFill>
                <a:latin typeface="Arial"/>
                <a:ea typeface="Arial"/>
                <a:cs typeface="Arial"/>
              </a:defRPr>
            </a:pPr>
            <a:r>
              <a:rPr sz="1350" b="1">
                <a:solidFill>
                  <a:srgbClr val="35131F"/>
                </a:solidFill>
                <a:latin typeface="Arial"/>
                <a:ea typeface="Arial"/>
                <a:cs typeface="Arial"/>
              </a:rPr>
              <a:t>Fewest links</a:t>
            </a:r>
          </a:p>
        </p:txBody>
      </p:sp>
      <p:sp>
        <p:nvSpPr>
          <p:cNvPr id="12" name="">
            <a:extLst xmlns:a="http://schemas.openxmlformats.org/drawingml/2006/main">
              <a:ext uri="{FF2B5EF4-FFF2-40B4-BE49-F238E27FC236}">
                <a16:creationId xmlns:a16="http://schemas.microsoft.com/office/drawing/2014/main" id="{8A7CCFDC-80FE-450A-9D81-7D230AC645F1}"/>
              </a:ext>
            </a:extLst>
          </p:cNvPr>
          <p:cNvSpPr>
            <a:spLocks xmlns:a="http://schemas.openxmlformats.org/drawingml/2006/main" noGrp="1"/>
          </p:cNvSpPr>
          <p:nvPr/>
        </p:nvSpPr>
        <p:spPr>
          <a:xfrm xmlns:a="http://schemas.openxmlformats.org/drawingml/2006/main">
            <a:off x="8439150" y="4191000"/>
            <a:ext cx="276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185"/>
          </a:bodyPr>
          <a:lstStyle xmlns:a="http://schemas.openxmlformats.org/drawingml/2006/main"/>
          <a:p xmlns:a="http://schemas.openxmlformats.org/drawingml/2006/main">
            <a:pPr>
              <a:defRPr sz="1350" b="0">
                <a:solidFill>
                  <a:srgbClr val="35131F"/>
                </a:solidFill>
                <a:latin typeface="Arial"/>
                <a:ea typeface="Arial"/>
                <a:cs typeface="Arial"/>
              </a:defRPr>
            </a:pPr>
            <a:r>
              <a:rPr sz="1350" b="0">
                <a:solidFill>
                  <a:srgbClr val="35131F"/>
                </a:solidFill>
                <a:latin typeface="Arial"/>
                <a:ea typeface="Arial"/>
                <a:cs typeface="Arial"/>
              </a:rPr>
              <a:t>2 links, 18 estimated minutes</a:t>
            </a:r>
          </a:p>
        </p:txBody>
      </p:sp>
      <p:sp>
        <p:nvSpPr>
          <p:cNvPr id="13" name="">
            <a:extLst xmlns:a="http://schemas.openxmlformats.org/drawingml/2006/main">
              <a:ext uri="{FF2B5EF4-FFF2-40B4-BE49-F238E27FC236}">
                <a16:creationId xmlns:a16="http://schemas.microsoft.com/office/drawing/2014/main" id="{894C10A2-52AE-476A-A4CD-7EBBCF4B75D9}"/>
              </a:ext>
            </a:extLst>
          </p:cNvPr>
          <p:cNvSpPr>
            <a:spLocks xmlns:a="http://schemas.openxmlformats.org/drawingml/2006/main" noGrp="1"/>
          </p:cNvSpPr>
          <p:nvPr/>
        </p:nvSpPr>
        <p:spPr>
          <a:xfrm xmlns:a="http://schemas.openxmlformats.org/drawingml/2006/main">
            <a:off x="6019800" y="4591050"/>
            <a:ext cx="2333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185"/>
          </a:bodyPr>
          <a:lstStyle xmlns:a="http://schemas.openxmlformats.org/drawingml/2006/main"/>
          <a:p xmlns:a="http://schemas.openxmlformats.org/drawingml/2006/main">
            <a:pPr>
              <a:defRPr sz="1350" b="1">
                <a:solidFill>
                  <a:srgbClr val="35131F"/>
                </a:solidFill>
                <a:latin typeface="Arial"/>
                <a:ea typeface="Arial"/>
                <a:cs typeface="Arial"/>
              </a:defRPr>
            </a:pPr>
            <a:r>
              <a:rPr sz="1350" b="1">
                <a:solidFill>
                  <a:srgbClr val="35131F"/>
                </a:solidFill>
                <a:latin typeface="Arial"/>
                <a:ea typeface="Arial"/>
                <a:cs typeface="Arial"/>
              </a:rPr>
              <a:t>Lowest effort</a:t>
            </a:r>
          </a:p>
        </p:txBody>
      </p:sp>
      <p:sp>
        <p:nvSpPr>
          <p:cNvPr id="14" name="">
            <a:extLst xmlns:a="http://schemas.openxmlformats.org/drawingml/2006/main">
              <a:ext uri="{FF2B5EF4-FFF2-40B4-BE49-F238E27FC236}">
                <a16:creationId xmlns:a16="http://schemas.microsoft.com/office/drawing/2014/main" id="{38591BF8-B4B3-4CAA-890E-E1453BC51D56}"/>
              </a:ext>
            </a:extLst>
          </p:cNvPr>
          <p:cNvSpPr>
            <a:spLocks xmlns:a="http://schemas.openxmlformats.org/drawingml/2006/main" noGrp="1"/>
          </p:cNvSpPr>
          <p:nvPr/>
        </p:nvSpPr>
        <p:spPr>
          <a:xfrm xmlns:a="http://schemas.openxmlformats.org/drawingml/2006/main">
            <a:off x="8439150" y="4591050"/>
            <a:ext cx="276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185"/>
          </a:bodyPr>
          <a:lstStyle xmlns:a="http://schemas.openxmlformats.org/drawingml/2006/main"/>
          <a:p xmlns:a="http://schemas.openxmlformats.org/drawingml/2006/main">
            <a:pPr>
              <a:defRPr sz="1350" b="0">
                <a:solidFill>
                  <a:srgbClr val="35131F"/>
                </a:solidFill>
                <a:latin typeface="Arial"/>
                <a:ea typeface="Arial"/>
                <a:cs typeface="Arial"/>
              </a:defRPr>
            </a:pPr>
            <a:r>
              <a:rPr sz="1350" b="0">
                <a:solidFill>
                  <a:srgbClr val="35131F"/>
                </a:solidFill>
                <a:latin typeface="Arial"/>
                <a:ea typeface="Arial"/>
                <a:cs typeface="Arial"/>
              </a:rPr>
              <a:t>3 links, 15 estimated minutes</a:t>
            </a:r>
          </a:p>
        </p:txBody>
      </p:sp>
      <p:sp>
        <p:nvSpPr>
          <p:cNvPr id="15" name="">
            <a:extLst xmlns:a="http://schemas.openxmlformats.org/drawingml/2006/main">
              <a:ext uri="{FF2B5EF4-FFF2-40B4-BE49-F238E27FC236}">
                <a16:creationId xmlns:a16="http://schemas.microsoft.com/office/drawing/2014/main" id="{406332B0-3C48-4977-B634-C07D5994A40D}"/>
              </a:ext>
            </a:extLst>
          </p:cNvPr>
          <p:cNvSpPr>
            <a:spLocks xmlns:a="http://schemas.openxmlformats.org/drawingml/2006/main" noGrp="1"/>
          </p:cNvSpPr>
          <p:nvPr/>
        </p:nvSpPr>
        <p:spPr>
          <a:xfrm xmlns:a="http://schemas.openxmlformats.org/drawingml/2006/main">
            <a:off x="6019800" y="5010150"/>
            <a:ext cx="5181600" cy="9525"/>
          </a:xfrm>
          <a:prstGeom xmlns:a="http://schemas.openxmlformats.org/drawingml/2006/main" prst="rect">
            <a:avLst/>
          </a:prstGeom>
          <a:solidFill xmlns:a="http://schemas.openxmlformats.org/drawingml/2006/main">
            <a:srgbClr val="E4CCD3"/>
          </a:solidFill>
          <a:ln xmlns:a="http://schemas.openxmlformats.org/drawingml/2006/main" w="9525">
            <a:solidFill>
              <a:srgbClr val="E4CCD3"/>
            </a:solidFill>
          </a:ln>
        </p:spPr>
      </p:sp>
      <p:sp>
        <p:nvSpPr>
          <p:cNvPr id="16" name="">
            <a:extLst xmlns:a="http://schemas.openxmlformats.org/drawingml/2006/main">
              <a:ext uri="{FF2B5EF4-FFF2-40B4-BE49-F238E27FC236}">
                <a16:creationId xmlns:a16="http://schemas.microsoft.com/office/drawing/2014/main" id="{AFEC32FD-1B6E-44D7-86C4-FDAC718BEF34}"/>
              </a:ext>
            </a:extLst>
          </p:cNvPr>
          <p:cNvSpPr>
            <a:spLocks xmlns:a="http://schemas.openxmlformats.org/drawingml/2006/main" noGrp="1"/>
          </p:cNvSpPr>
          <p:nvPr/>
        </p:nvSpPr>
        <p:spPr>
          <a:xfrm xmlns:a="http://schemas.openxmlformats.org/drawingml/2006/main">
            <a:off x="6019800" y="51816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8F354F"/>
                </a:solidFill>
                <a:latin typeface="Arial"/>
                <a:ea typeface="Arial"/>
                <a:cs typeface="Arial"/>
              </a:defRPr>
            </a:pPr>
            <a:r>
              <a:rPr sz="975" b="1">
                <a:solidFill>
                  <a:srgbClr val="8F354F"/>
                </a:solidFill>
                <a:latin typeface="Arial"/>
                <a:ea typeface="Arial"/>
                <a:cs typeface="Arial"/>
              </a:rPr>
              <a:t>PRACTICAL BENEFIT</a:t>
            </a:r>
          </a:p>
        </p:txBody>
      </p:sp>
      <p:sp>
        <p:nvSpPr>
          <p:cNvPr id="17" name="">
            <a:extLst xmlns:a="http://schemas.openxmlformats.org/drawingml/2006/main">
              <a:ext uri="{FF2B5EF4-FFF2-40B4-BE49-F238E27FC236}">
                <a16:creationId xmlns:a16="http://schemas.microsoft.com/office/drawing/2014/main" id="{D01DD7BC-5611-434B-88FA-61E2C56ED63A}"/>
              </a:ext>
            </a:extLst>
          </p:cNvPr>
          <p:cNvSpPr>
            <a:spLocks xmlns:a="http://schemas.openxmlformats.org/drawingml/2006/main" noGrp="1"/>
          </p:cNvSpPr>
          <p:nvPr/>
        </p:nvSpPr>
        <p:spPr>
          <a:xfrm xmlns:a="http://schemas.openxmlformats.org/drawingml/2006/main">
            <a:off x="6019800" y="5495925"/>
            <a:ext cx="5191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35131F"/>
                </a:solidFill>
                <a:latin typeface="Arial"/>
                <a:ea typeface="Arial"/>
                <a:cs typeface="Arial"/>
              </a:defRPr>
            </a:pPr>
            <a:r>
              <a:rPr sz="1350" b="0">
                <a:solidFill>
                  <a:srgbClr val="35131F"/>
                </a:solidFill>
                <a:latin typeface="Arial"/>
                <a:ea typeface="Arial"/>
                <a:cs typeface="Arial"/>
              </a:rPr>
              <a:t>Makes priority reasons and route trade-offs visible for a human tabletop review.</a:t>
            </a:r>
          </a:p>
        </p:txBody>
      </p:sp>
      <p:sp>
        <p:nvSpPr>
          <p:cNvPr id="18" name="">
            <a:extLst xmlns:a="http://schemas.openxmlformats.org/drawingml/2006/main">
              <a:ext uri="{FF2B5EF4-FFF2-40B4-BE49-F238E27FC236}">
                <a16:creationId xmlns:a16="http://schemas.microsoft.com/office/drawing/2014/main" id="{F9F5F1EB-19F7-4ACC-BDAE-6D26999A8EC7}"/>
              </a:ext>
            </a:extLst>
          </p:cNvPr>
          <p:cNvSpPr>
            <a:spLocks xmlns:a="http://schemas.openxmlformats.org/drawingml/2006/main" noGrp="1"/>
          </p:cNvSpPr>
          <p:nvPr/>
        </p:nvSpPr>
        <p:spPr>
          <a:xfrm xmlns:a="http://schemas.openxmlformats.org/drawingml/2006/main">
            <a:off x="685800" y="6200775"/>
            <a:ext cx="9715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0">
                <a:solidFill>
                  <a:srgbClr val="826A73"/>
                </a:solidFill>
                <a:latin typeface="Arial"/>
                <a:ea typeface="Arial"/>
                <a:cs typeface="Arial"/>
              </a:defRPr>
            </a:pPr>
            <a:r>
              <a:rPr sz="975" b="0">
                <a:solidFill>
                  <a:srgbClr val="826A73"/>
                </a:solidFill>
                <a:latin typeface="Arial"/>
                <a:ea typeface="Arial"/>
                <a:cs typeface="Arial"/>
              </a:rPr>
              <a:t>Illustrative sample results, not measured incident response performance.</a:t>
            </a:r>
          </a:p>
        </p:txBody>
      </p:sp>
      <p:sp>
        <p:nvSpPr>
          <p:cNvPr id="19" name="">
            <a:extLst xmlns:a="http://schemas.openxmlformats.org/drawingml/2006/main">
              <a:ext uri="{FF2B5EF4-FFF2-40B4-BE49-F238E27FC236}">
                <a16:creationId xmlns:a16="http://schemas.microsoft.com/office/drawing/2014/main" id="{9B647E9B-AE6C-4BC9-99F7-A2CE30BB605E}"/>
              </a:ext>
            </a:extLst>
          </p:cNvPr>
          <p:cNvSpPr>
            <a:spLocks xmlns:a="http://schemas.openxmlformats.org/drawingml/2006/main" noGrp="1"/>
          </p:cNvSpPr>
          <p:nvPr/>
        </p:nvSpPr>
        <p:spPr>
          <a:xfrm xmlns:a="http://schemas.openxmlformats.org/drawingml/2006/main">
            <a:off x="685800" y="6486525"/>
            <a:ext cx="838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222"/>
          </a:bodyPr>
          <a:lstStyle xmlns:a="http://schemas.openxmlformats.org/drawingml/2006/main"/>
          <a:p xmlns:a="http://schemas.openxmlformats.org/drawingml/2006/main">
            <a:pPr>
              <a:defRPr sz="900" b="1">
                <a:solidFill>
                  <a:srgbClr val="826A73"/>
                </a:solidFill>
                <a:latin typeface="Arial"/>
                <a:ea typeface="Arial"/>
                <a:cs typeface="Arial"/>
              </a:defRPr>
            </a:pPr>
            <a:r>
              <a:rPr sz="900" b="1">
                <a:solidFill>
                  <a:srgbClr val="826A73"/>
                </a:solidFill>
                <a:latin typeface="Arial"/>
                <a:ea typeface="Arial"/>
                <a:cs typeface="Arial"/>
              </a:rPr>
              <a:t>PROBLEM 92    CYBER INCIDENT RESPONSE PLANNER</a:t>
            </a:r>
          </a:p>
        </p:txBody>
      </p:sp>
      <p:sp>
        <p:nvSpPr>
          <p:cNvPr id="20" name="">
            <a:extLst xmlns:a="http://schemas.openxmlformats.org/drawingml/2006/main">
              <a:ext uri="{FF2B5EF4-FFF2-40B4-BE49-F238E27FC236}">
                <a16:creationId xmlns:a16="http://schemas.microsoft.com/office/drawing/2014/main" id="{8FBB36D2-DAB1-4A5E-91E6-6DB1693DB3C6}"/>
              </a:ext>
            </a:extLst>
          </p:cNvPr>
          <p:cNvSpPr>
            <a:spLocks xmlns:a="http://schemas.openxmlformats.org/drawingml/2006/main" noGrp="1"/>
          </p:cNvSpPr>
          <p:nvPr/>
        </p:nvSpPr>
        <p:spPr>
          <a:xfrm xmlns:a="http://schemas.openxmlformats.org/drawingml/2006/main">
            <a:off x="10668000" y="6486525"/>
            <a:ext cx="838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222"/>
          </a:bodyPr>
          <a:lstStyle xmlns:a="http://schemas.openxmlformats.org/drawingml/2006/main"/>
          <a:p xmlns:a="http://schemas.openxmlformats.org/drawingml/2006/main">
            <a:pPr>
              <a:defRPr sz="900" b="1">
                <a:solidFill>
                  <a:srgbClr val="826A73"/>
                </a:solidFill>
                <a:latin typeface="Arial"/>
                <a:ea typeface="Arial"/>
                <a:cs typeface="Arial"/>
              </a:defRPr>
            </a:pPr>
            <a:r>
              <a:rPr sz="900" b="1">
                <a:solidFill>
                  <a:srgbClr val="826A73"/>
                </a:solidFill>
                <a:latin typeface="Arial"/>
                <a:ea typeface="Arial"/>
                <a:cs typeface="Arial"/>
              </a:rPr>
              <a:t>06 / 07</a:t>
            </a:r>
          </a:p>
        </p:txBody>
      </p:sp>
    </p:spTree>
    <p:extLst>
      <p:ext uri="{BB962C8B-B14F-4D97-AF65-F5344CB8AC3E}">
        <p14:creationId xmlns:p14="http://schemas.microsoft.com/office/powerpoint/2010/main" val="848992733"/>
      </p:ext>
    </p:extLst>
  </p:cSld>
</p:sld>
</file>

<file path=ppt/slides/slide7.xml><?xml version="1.0" encoding="utf-8"?>
<p:sld xmlns:p="http://schemas.openxmlformats.org/presentationml/2006/main">
  <p:cSld>
    <p:bg>
      <p:bgPr>
        <a:solidFill xmlns:a="http://schemas.openxmlformats.org/drawingml/2006/main">
          <a:srgbClr val="FCF8F9"/>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362A9231-E5CE-4DDA-BBA3-54CEA196C026}"/>
              </a:ext>
            </a:extLst>
          </p:cNvPr>
          <p:cNvSpPr>
            <a:spLocks xmlns:a="http://schemas.openxmlformats.org/drawingml/2006/main" noGrp="1"/>
          </p:cNvSpPr>
          <p:nvPr/>
        </p:nvSpPr>
        <p:spPr>
          <a:xfrm xmlns:a="http://schemas.openxmlformats.org/drawingml/2006/main">
            <a:off x="685800" y="400050"/>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9487"/>
          </a:bodyPr>
          <a:lstStyle xmlns:a="http://schemas.openxmlformats.org/drawingml/2006/main"/>
          <a:p xmlns:a="http://schemas.openxmlformats.org/drawingml/2006/main">
            <a:pPr>
              <a:defRPr sz="975" b="1">
                <a:solidFill>
                  <a:srgbClr val="8F354F"/>
                </a:solidFill>
                <a:latin typeface="Arial"/>
                <a:ea typeface="Arial"/>
                <a:cs typeface="Arial"/>
              </a:defRPr>
            </a:pPr>
            <a:r>
              <a:rPr sz="975" b="1">
                <a:solidFill>
                  <a:srgbClr val="8F354F"/>
                </a:solidFill>
                <a:latin typeface="Arial"/>
                <a:ea typeface="Arial"/>
                <a:cs typeface="Arial"/>
              </a:rPr>
              <a:t>FUTURE VISION</a:t>
            </a:r>
          </a:p>
        </p:txBody>
      </p:sp>
      <p:sp>
        <p:nvSpPr>
          <p:cNvPr id="2" name="">
            <a:extLst xmlns:a="http://schemas.openxmlformats.org/drawingml/2006/main">
              <a:ext uri="{FF2B5EF4-FFF2-40B4-BE49-F238E27FC236}">
                <a16:creationId xmlns:a16="http://schemas.microsoft.com/office/drawing/2014/main" id="{02885D67-0B12-4974-AC4D-98A149B3B614}"/>
              </a:ext>
            </a:extLst>
          </p:cNvPr>
          <p:cNvSpPr>
            <a:spLocks xmlns:a="http://schemas.openxmlformats.org/drawingml/2006/main" noGrp="1"/>
          </p:cNvSpPr>
          <p:nvPr/>
        </p:nvSpPr>
        <p:spPr>
          <a:xfrm xmlns:a="http://schemas.openxmlformats.org/drawingml/2006/main">
            <a:off x="685800" y="742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150" b="1">
                <a:solidFill>
                  <a:srgbClr val="35131F"/>
                </a:solidFill>
                <a:latin typeface="Arial"/>
                <a:ea typeface="Arial"/>
                <a:cs typeface="Arial"/>
              </a:defRPr>
            </a:pPr>
            <a:r>
              <a:rPr sz="3150" b="1">
                <a:solidFill>
                  <a:srgbClr val="35131F"/>
                </a:solidFill>
                <a:latin typeface="Arial"/>
                <a:ea typeface="Arial"/>
                <a:cs typeface="Arial"/>
              </a:rPr>
              <a:t>Validate the model before scaling it.</a:t>
            </a:r>
          </a:p>
        </p:txBody>
      </p:sp>
      <p:sp>
        <p:nvSpPr>
          <p:cNvPr id="3" name="">
            <a:extLst xmlns:a="http://schemas.openxmlformats.org/drawingml/2006/main">
              <a:ext uri="{FF2B5EF4-FFF2-40B4-BE49-F238E27FC236}">
                <a16:creationId xmlns:a16="http://schemas.microsoft.com/office/drawing/2014/main" id="{56BB6ED4-8DFC-4A4F-AFE5-33FC8EFCEF41}"/>
              </a:ext>
            </a:extLst>
          </p:cNvPr>
          <p:cNvSpPr>
            <a:spLocks xmlns:a="http://schemas.openxmlformats.org/drawingml/2006/main" noGrp="1"/>
          </p:cNvSpPr>
          <p:nvPr/>
        </p:nvSpPr>
        <p:spPr>
          <a:xfrm xmlns:a="http://schemas.openxmlformats.org/drawingml/2006/main">
            <a:off x="685800" y="1562100"/>
            <a:ext cx="10820400" cy="9525"/>
          </a:xfrm>
          <a:prstGeom xmlns:a="http://schemas.openxmlformats.org/drawingml/2006/main" prst="rect">
            <a:avLst/>
          </a:prstGeom>
          <a:solidFill xmlns:a="http://schemas.openxmlformats.org/drawingml/2006/main">
            <a:srgbClr val="E4CCD3"/>
          </a:solidFill>
          <a:ln xmlns:a="http://schemas.openxmlformats.org/drawingml/2006/main" w="9525">
            <a:solidFill>
              <a:srgbClr val="E4CCD3"/>
            </a:solidFill>
          </a:ln>
        </p:spPr>
      </p:sp>
      <p:sp>
        <p:nvSpPr>
          <p:cNvPr id="4" name="">
            <a:extLst xmlns:a="http://schemas.openxmlformats.org/drawingml/2006/main">
              <a:ext uri="{FF2B5EF4-FFF2-40B4-BE49-F238E27FC236}">
                <a16:creationId xmlns:a16="http://schemas.microsoft.com/office/drawing/2014/main" id="{70123463-89EB-49B4-A9DE-42D5D1A4F653}"/>
              </a:ext>
            </a:extLst>
          </p:cNvPr>
          <p:cNvSpPr>
            <a:spLocks xmlns:a="http://schemas.openxmlformats.org/drawingml/2006/main" noGrp="1"/>
          </p:cNvSpPr>
          <p:nvPr/>
        </p:nvSpPr>
        <p:spPr>
          <a:xfrm xmlns:a="http://schemas.openxmlformats.org/drawingml/2006/main">
            <a:off x="8515350" y="1676400"/>
            <a:ext cx="3048000" cy="1638300"/>
          </a:xfrm>
          <a:prstGeom xmlns:a="http://schemas.openxmlformats.org/drawingml/2006/main" prst="roundRect">
            <a:avLst>
              <a:gd name="adj" fmla="val 4651"/>
            </a:avLst>
          </a:prstGeom>
          <a:solidFill xmlns:a="http://schemas.openxmlformats.org/drawingml/2006/main">
            <a:srgbClr val="FFFDFC"/>
          </a:solidFill>
          <a:ln xmlns:a="http://schemas.openxmlformats.org/drawingml/2006/main" w="9525">
            <a:solidFill>
              <a:srgbClr val="E4CCD3"/>
            </a:solidFill>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fd3344b7c9144377"/>
          <a:stretch xmlns:a="http://schemas.openxmlformats.org/drawingml/2006/main"/>
        </p:blipFill>
        <p:spPr>
          <a:xfrm xmlns:a="http://schemas.openxmlformats.org/drawingml/2006/main">
            <a:off x="8610600" y="1785065"/>
            <a:ext cx="2857500" cy="1420971"/>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C9FE3634-B0CE-4AA6-8D3C-32AE1940B452}"/>
              </a:ext>
            </a:extLst>
          </p:cNvPr>
          <p:cNvSpPr>
            <a:spLocks xmlns:a="http://schemas.openxmlformats.org/drawingml/2006/main" noGrp="1"/>
          </p:cNvSpPr>
          <p:nvPr/>
        </p:nvSpPr>
        <p:spPr>
          <a:xfrm xmlns:a="http://schemas.openxmlformats.org/drawingml/2006/main">
            <a:off x="685800" y="2000250"/>
            <a:ext cx="342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8F354F"/>
                </a:solidFill>
                <a:latin typeface="Arial"/>
                <a:ea typeface="Arial"/>
                <a:cs typeface="Arial"/>
              </a:defRPr>
            </a:pPr>
            <a:r>
              <a:rPr sz="975" b="1">
                <a:solidFill>
                  <a:srgbClr val="8F354F"/>
                </a:solidFill>
                <a:latin typeface="Arial"/>
                <a:ea typeface="Arial"/>
                <a:cs typeface="Arial"/>
              </a:rPr>
              <a:t>CURRENT ACHIEVEMENT</a:t>
            </a:r>
          </a:p>
        </p:txBody>
      </p:sp>
      <p:sp>
        <p:nvSpPr>
          <p:cNvPr id="7" name="">
            <a:extLst xmlns:a="http://schemas.openxmlformats.org/drawingml/2006/main">
              <a:ext uri="{FF2B5EF4-FFF2-40B4-BE49-F238E27FC236}">
                <a16:creationId xmlns:a16="http://schemas.microsoft.com/office/drawing/2014/main" id="{6C291102-A10D-4B5D-BA88-C7C1A2FC4235}"/>
              </a:ext>
            </a:extLst>
          </p:cNvPr>
          <p:cNvSpPr>
            <a:spLocks xmlns:a="http://schemas.openxmlformats.org/drawingml/2006/main" noGrp="1"/>
          </p:cNvSpPr>
          <p:nvPr/>
        </p:nvSpPr>
        <p:spPr>
          <a:xfrm xmlns:a="http://schemas.openxmlformats.org/drawingml/2006/main">
            <a:off x="685800" y="2305050"/>
            <a:ext cx="70008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425" b="0">
                <a:solidFill>
                  <a:srgbClr val="35131F"/>
                </a:solidFill>
                <a:latin typeface="Arial"/>
                <a:ea typeface="Arial"/>
                <a:cs typeface="Arial"/>
              </a:defRPr>
            </a:pPr>
            <a:r>
              <a:rPr sz="1425" b="0">
                <a:solidFill>
                  <a:srgbClr val="35131F"/>
                </a:solidFill>
                <a:latin typeface="Arial"/>
                <a:ea typeface="Arial"/>
                <a:cs typeface="Arial"/>
              </a:rPr>
              <a:t>A working local tabletop demo with editable fictional incidents, a dependency graph, a priority queue, and two route objectives.</a:t>
            </a:r>
          </a:p>
        </p:txBody>
      </p:sp>
      <p:sp>
        <p:nvSpPr>
          <p:cNvPr id="8" name="">
            <a:extLst xmlns:a="http://schemas.openxmlformats.org/drawingml/2006/main">
              <a:ext uri="{FF2B5EF4-FFF2-40B4-BE49-F238E27FC236}">
                <a16:creationId xmlns:a16="http://schemas.microsoft.com/office/drawing/2014/main" id="{A5191CB2-A118-46BB-99A9-1A380088D089}"/>
              </a:ext>
            </a:extLst>
          </p:cNvPr>
          <p:cNvSpPr>
            <a:spLocks xmlns:a="http://schemas.openxmlformats.org/drawingml/2006/main" noGrp="1"/>
          </p:cNvSpPr>
          <p:nvPr/>
        </p:nvSpPr>
        <p:spPr>
          <a:xfrm xmlns:a="http://schemas.openxmlformats.org/drawingml/2006/main">
            <a:off x="685800" y="3238500"/>
            <a:ext cx="342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9E6276"/>
                </a:solidFill>
                <a:latin typeface="Arial"/>
                <a:ea typeface="Arial"/>
                <a:cs typeface="Arial"/>
              </a:defRPr>
            </a:pPr>
            <a:r>
              <a:rPr sz="975" b="1">
                <a:solidFill>
                  <a:srgbClr val="9E6276"/>
                </a:solidFill>
                <a:latin typeface="Arial"/>
                <a:ea typeface="Arial"/>
                <a:cs typeface="Arial"/>
              </a:rPr>
              <a:t>NEXT IMPROVEMENTS</a:t>
            </a:r>
          </a:p>
        </p:txBody>
      </p:sp>
      <p:sp>
        <p:nvSpPr>
          <p:cNvPr id="9" name="">
            <a:extLst xmlns:a="http://schemas.openxmlformats.org/drawingml/2006/main">
              <a:ext uri="{FF2B5EF4-FFF2-40B4-BE49-F238E27FC236}">
                <a16:creationId xmlns:a16="http://schemas.microsoft.com/office/drawing/2014/main" id="{118AF6EC-DD5B-4B36-AECE-D0FA64B9A7E0}"/>
              </a:ext>
            </a:extLst>
          </p:cNvPr>
          <p:cNvSpPr>
            <a:spLocks xmlns:a="http://schemas.openxmlformats.org/drawingml/2006/main" noGrp="1"/>
          </p:cNvSpPr>
          <p:nvPr/>
        </p:nvSpPr>
        <p:spPr>
          <a:xfrm xmlns:a="http://schemas.openxmlformats.org/drawingml/2006/main">
            <a:off x="685800" y="3543300"/>
            <a:ext cx="7000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425" b="0">
                <a:solidFill>
                  <a:srgbClr val="35131F"/>
                </a:solidFill>
                <a:latin typeface="Arial"/>
                <a:ea typeface="Arial"/>
                <a:cs typeface="Arial"/>
              </a:defRPr>
            </a:pPr>
            <a:r>
              <a:rPr sz="1425" b="0">
                <a:solidFill>
                  <a:srgbClr val="35131F"/>
                </a:solidFill>
                <a:latin typeface="Arial"/>
                <a:ea typeface="Arial"/>
                <a:cs typeface="Arial"/>
              </a:rPr>
              <a:t>Validate score weights and effort estimates with incident responders. Add persistence and a backend only if the event requires a full MERN build.</a:t>
            </a:r>
          </a:p>
        </p:txBody>
      </p:sp>
      <p:sp>
        <p:nvSpPr>
          <p:cNvPr id="10" name="">
            <a:extLst xmlns:a="http://schemas.openxmlformats.org/drawingml/2006/main">
              <a:ext uri="{FF2B5EF4-FFF2-40B4-BE49-F238E27FC236}">
                <a16:creationId xmlns:a16="http://schemas.microsoft.com/office/drawing/2014/main" id="{0FE70C37-CB11-4818-9C6C-6407FF7B9829}"/>
              </a:ext>
            </a:extLst>
          </p:cNvPr>
          <p:cNvSpPr>
            <a:spLocks xmlns:a="http://schemas.openxmlformats.org/drawingml/2006/main" noGrp="1"/>
          </p:cNvSpPr>
          <p:nvPr/>
        </p:nvSpPr>
        <p:spPr>
          <a:xfrm xmlns:a="http://schemas.openxmlformats.org/drawingml/2006/main">
            <a:off x="685800" y="4514850"/>
            <a:ext cx="342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8F354F"/>
                </a:solidFill>
                <a:latin typeface="Arial"/>
                <a:ea typeface="Arial"/>
                <a:cs typeface="Arial"/>
              </a:defRPr>
            </a:pPr>
            <a:r>
              <a:rPr sz="975" b="1">
                <a:solidFill>
                  <a:srgbClr val="8F354F"/>
                </a:solidFill>
                <a:latin typeface="Arial"/>
                <a:ea typeface="Arial"/>
                <a:cs typeface="Arial"/>
              </a:rPr>
              <a:t>SCALABILITY</a:t>
            </a:r>
          </a:p>
        </p:txBody>
      </p:sp>
      <p:sp>
        <p:nvSpPr>
          <p:cNvPr id="11" name="">
            <a:extLst xmlns:a="http://schemas.openxmlformats.org/drawingml/2006/main">
              <a:ext uri="{FF2B5EF4-FFF2-40B4-BE49-F238E27FC236}">
                <a16:creationId xmlns:a16="http://schemas.microsoft.com/office/drawing/2014/main" id="{CCF18BDA-237C-4B15-BCB6-DF420B5A3A54}"/>
              </a:ext>
            </a:extLst>
          </p:cNvPr>
          <p:cNvSpPr>
            <a:spLocks xmlns:a="http://schemas.openxmlformats.org/drawingml/2006/main" noGrp="1"/>
          </p:cNvSpPr>
          <p:nvPr/>
        </p:nvSpPr>
        <p:spPr>
          <a:xfrm xmlns:a="http://schemas.openxmlformats.org/drawingml/2006/main">
            <a:off x="685800" y="4819650"/>
            <a:ext cx="7000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425" b="0">
                <a:solidFill>
                  <a:srgbClr val="35131F"/>
                </a:solidFill>
                <a:latin typeface="Arial"/>
                <a:ea typeface="Arial"/>
                <a:cs typeface="Arial"/>
              </a:defRPr>
            </a:pPr>
            <a:r>
              <a:rPr sz="1425" b="0">
                <a:solidFill>
                  <a:srgbClr val="35131F"/>
                </a:solidFill>
                <a:latin typeface="Arial"/>
                <a:ea typeface="Arial"/>
                <a:cs typeface="Arial"/>
              </a:rPr>
              <a:t>Test larger graphs, define access controls, and review privacy before any real incident data or operational integration.</a:t>
            </a:r>
          </a:p>
        </p:txBody>
      </p:sp>
      <p:sp>
        <p:nvSpPr>
          <p:cNvPr id="12" name="">
            <a:extLst xmlns:a="http://schemas.openxmlformats.org/drawingml/2006/main">
              <a:ext uri="{FF2B5EF4-FFF2-40B4-BE49-F238E27FC236}">
                <a16:creationId xmlns:a16="http://schemas.microsoft.com/office/drawing/2014/main" id="{5DA947FE-805E-4B7B-884B-45D2A0AD97EC}"/>
              </a:ext>
            </a:extLst>
          </p:cNvPr>
          <p:cNvSpPr>
            <a:spLocks xmlns:a="http://schemas.openxmlformats.org/drawingml/2006/main" noGrp="1"/>
          </p:cNvSpPr>
          <p:nvPr/>
        </p:nvSpPr>
        <p:spPr>
          <a:xfrm xmlns:a="http://schemas.openxmlformats.org/drawingml/2006/main">
            <a:off x="685800" y="5657850"/>
            <a:ext cx="10820400" cy="9525"/>
          </a:xfrm>
          <a:prstGeom xmlns:a="http://schemas.openxmlformats.org/drawingml/2006/main" prst="rect">
            <a:avLst/>
          </a:prstGeom>
          <a:solidFill xmlns:a="http://schemas.openxmlformats.org/drawingml/2006/main">
            <a:srgbClr val="E4CCD3"/>
          </a:solidFill>
          <a:ln xmlns:a="http://schemas.openxmlformats.org/drawingml/2006/main" w="9525">
            <a:solidFill>
              <a:srgbClr val="E4CCD3"/>
            </a:solidFill>
          </a:ln>
        </p:spPr>
      </p:sp>
      <p:sp>
        <p:nvSpPr>
          <p:cNvPr id="13" name="">
            <a:extLst xmlns:a="http://schemas.openxmlformats.org/drawingml/2006/main">
              <a:ext uri="{FF2B5EF4-FFF2-40B4-BE49-F238E27FC236}">
                <a16:creationId xmlns:a16="http://schemas.microsoft.com/office/drawing/2014/main" id="{F2E5DDEE-662A-4E2E-A47C-CBA14F3F3862}"/>
              </a:ext>
            </a:extLst>
          </p:cNvPr>
          <p:cNvSpPr>
            <a:spLocks xmlns:a="http://schemas.openxmlformats.org/drawingml/2006/main" noGrp="1"/>
          </p:cNvSpPr>
          <p:nvPr/>
        </p:nvSpPr>
        <p:spPr>
          <a:xfrm xmlns:a="http://schemas.openxmlformats.org/drawingml/2006/main">
            <a:off x="685800" y="5848350"/>
            <a:ext cx="666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425" b="1">
                <a:solidFill>
                  <a:srgbClr val="35131F"/>
                </a:solidFill>
                <a:latin typeface="Arial"/>
                <a:ea typeface="Arial"/>
                <a:cs typeface="Arial"/>
              </a:defRPr>
            </a:pPr>
            <a:r>
              <a:rPr sz="1425" b="1">
                <a:solidFill>
                  <a:srgbClr val="35131F"/>
                </a:solidFill>
                <a:latin typeface="Arial"/>
                <a:ea typeface="Arial"/>
                <a:cs typeface="Arial"/>
              </a:rPr>
              <a:t>An explainable planning aid. Response authority stays with people.</a:t>
            </a:r>
          </a:p>
        </p:txBody>
      </p:sp>
      <p:sp>
        <p:nvSpPr>
          <p:cNvPr id="14" name="">
            <a:extLst xmlns:a="http://schemas.openxmlformats.org/drawingml/2006/main">
              <a:ext uri="{FF2B5EF4-FFF2-40B4-BE49-F238E27FC236}">
                <a16:creationId xmlns:a16="http://schemas.microsoft.com/office/drawing/2014/main" id="{600899CD-B0A5-4FC3-A7A1-186D72F43263}"/>
              </a:ext>
            </a:extLst>
          </p:cNvPr>
          <p:cNvSpPr>
            <a:spLocks xmlns:a="http://schemas.openxmlformats.org/drawingml/2006/main" noGrp="1"/>
          </p:cNvSpPr>
          <p:nvPr/>
        </p:nvSpPr>
        <p:spPr>
          <a:xfrm xmlns:a="http://schemas.openxmlformats.org/drawingml/2006/main">
            <a:off x="8496300" y="5829300"/>
            <a:ext cx="3009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1">
                <a:solidFill>
                  <a:srgbClr val="8F354F"/>
                </a:solidFill>
                <a:latin typeface="Arial"/>
                <a:ea typeface="Arial"/>
                <a:cs typeface="Arial"/>
              </a:defRPr>
            </a:pPr>
            <a:r>
              <a:rPr sz="1575" b="1">
                <a:solidFill>
                  <a:srgbClr val="8F354F"/>
                </a:solidFill>
                <a:latin typeface="Arial"/>
                <a:ea typeface="Arial"/>
                <a:cs typeface="Arial"/>
              </a:rPr>
              <a:t>Thank you  |  Questions</a:t>
            </a:r>
          </a:p>
        </p:txBody>
      </p:sp>
      <p:sp>
        <p:nvSpPr>
          <p:cNvPr id="15" name="">
            <a:extLst xmlns:a="http://schemas.openxmlformats.org/drawingml/2006/main">
              <a:ext uri="{FF2B5EF4-FFF2-40B4-BE49-F238E27FC236}">
                <a16:creationId xmlns:a16="http://schemas.microsoft.com/office/drawing/2014/main" id="{5550CBFB-26C0-477E-8817-5EE9186481DC}"/>
              </a:ext>
            </a:extLst>
          </p:cNvPr>
          <p:cNvSpPr>
            <a:spLocks xmlns:a="http://schemas.openxmlformats.org/drawingml/2006/main" noGrp="1"/>
          </p:cNvSpPr>
          <p:nvPr/>
        </p:nvSpPr>
        <p:spPr>
          <a:xfrm xmlns:a="http://schemas.openxmlformats.org/drawingml/2006/main">
            <a:off x="685800" y="6486525"/>
            <a:ext cx="838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222"/>
          </a:bodyPr>
          <a:lstStyle xmlns:a="http://schemas.openxmlformats.org/drawingml/2006/main"/>
          <a:p xmlns:a="http://schemas.openxmlformats.org/drawingml/2006/main">
            <a:pPr>
              <a:defRPr sz="900" b="1">
                <a:solidFill>
                  <a:srgbClr val="826A73"/>
                </a:solidFill>
                <a:latin typeface="Arial"/>
                <a:ea typeface="Arial"/>
                <a:cs typeface="Arial"/>
              </a:defRPr>
            </a:pPr>
            <a:r>
              <a:rPr sz="900" b="1">
                <a:solidFill>
                  <a:srgbClr val="826A73"/>
                </a:solidFill>
                <a:latin typeface="Arial"/>
                <a:ea typeface="Arial"/>
                <a:cs typeface="Arial"/>
              </a:rPr>
              <a:t>PROBLEM 92    CYBER INCIDENT RESPONSE PLANNER</a:t>
            </a:r>
          </a:p>
        </p:txBody>
      </p:sp>
      <p:sp>
        <p:nvSpPr>
          <p:cNvPr id="16" name="">
            <a:extLst xmlns:a="http://schemas.openxmlformats.org/drawingml/2006/main">
              <a:ext uri="{FF2B5EF4-FFF2-40B4-BE49-F238E27FC236}">
                <a16:creationId xmlns:a16="http://schemas.microsoft.com/office/drawing/2014/main" id="{ED1C4DF8-066B-4BF6-AC88-95F69C2CFFB0}"/>
              </a:ext>
            </a:extLst>
          </p:cNvPr>
          <p:cNvSpPr>
            <a:spLocks xmlns:a="http://schemas.openxmlformats.org/drawingml/2006/main" noGrp="1"/>
          </p:cNvSpPr>
          <p:nvPr/>
        </p:nvSpPr>
        <p:spPr>
          <a:xfrm xmlns:a="http://schemas.openxmlformats.org/drawingml/2006/main">
            <a:off x="10668000" y="6486525"/>
            <a:ext cx="838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222"/>
          </a:bodyPr>
          <a:lstStyle xmlns:a="http://schemas.openxmlformats.org/drawingml/2006/main"/>
          <a:p xmlns:a="http://schemas.openxmlformats.org/drawingml/2006/main">
            <a:pPr>
              <a:defRPr sz="900" b="1">
                <a:solidFill>
                  <a:srgbClr val="826A73"/>
                </a:solidFill>
                <a:latin typeface="Arial"/>
                <a:ea typeface="Arial"/>
                <a:cs typeface="Arial"/>
              </a:defRPr>
            </a:pPr>
            <a:r>
              <a:rPr sz="900" b="1">
                <a:solidFill>
                  <a:srgbClr val="826A73"/>
                </a:solidFill>
                <a:latin typeface="Arial"/>
                <a:ea typeface="Arial"/>
                <a:cs typeface="Arial"/>
              </a:rPr>
              <a:t>07 / 07</a:t>
            </a:r>
          </a:p>
        </p:txBody>
      </p:sp>
    </p:spTree>
    <p:extLst>
      <p:ext uri="{BB962C8B-B14F-4D97-AF65-F5344CB8AC3E}">
        <p14:creationId xmlns:p14="http://schemas.microsoft.com/office/powerpoint/2010/main" val="130507048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2026-10-03T00:16:51.9680000Z</dcterms:created>
  <dcterms:modified xsi:type="dcterms:W3CDTF">2026-10-03T00:16:51.9680000Z</dcterms:modified>
</coreProperties>
</file>